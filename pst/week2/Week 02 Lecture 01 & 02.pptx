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6832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9780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9105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7697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1453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505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5578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9203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2456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5468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0562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885685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5941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9910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0257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5251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6363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 xmlns:a14="http://schemas.microsoft.com/office/drawing/2010/main">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1/27/2026</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736431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E9AC5-C455-44A6-A07A-1C0658A9F7DD}"/>
              </a:ext>
            </a:extLst>
          </p:cNvPr>
          <p:cNvSpPr>
            <a:spLocks noGrp="1"/>
          </p:cNvSpPr>
          <p:nvPr>
            <p:ph type="ctrTitle"/>
          </p:nvPr>
        </p:nvSpPr>
        <p:spPr/>
        <p:txBody>
          <a:bodyPr/>
          <a:lstStyle/>
          <a:p>
            <a:pPr algn="ctr"/>
            <a:r>
              <a:rPr lang="en-US" dirty="0"/>
              <a:t>PAKISTAN HISTORICAL TRAJECTORY</a:t>
            </a:r>
            <a:endParaRPr lang="en-PK" dirty="0"/>
          </a:p>
        </p:txBody>
      </p:sp>
      <p:sp>
        <p:nvSpPr>
          <p:cNvPr id="3" name="Subtitle 2">
            <a:extLst>
              <a:ext uri="{FF2B5EF4-FFF2-40B4-BE49-F238E27FC236}">
                <a16:creationId xmlns:a16="http://schemas.microsoft.com/office/drawing/2014/main" id="{3B9FCB11-CDC1-4788-A3F6-2F06305CE132}"/>
              </a:ext>
            </a:extLst>
          </p:cNvPr>
          <p:cNvSpPr>
            <a:spLocks noGrp="1"/>
          </p:cNvSpPr>
          <p:nvPr>
            <p:ph type="subTitle" idx="1"/>
          </p:nvPr>
        </p:nvSpPr>
        <p:spPr>
          <a:xfrm>
            <a:off x="17756" y="4320400"/>
            <a:ext cx="4758431" cy="2408873"/>
          </a:xfrm>
        </p:spPr>
        <p:txBody>
          <a:bodyPr>
            <a:normAutofit fontScale="92500" lnSpcReduction="10000"/>
          </a:bodyPr>
          <a:lstStyle/>
          <a:p>
            <a:pPr algn="ctr"/>
            <a:r>
              <a:rPr lang="en-US" sz="2800" b="1" u="sng" dirty="0">
                <a:latin typeface="Arial" panose="020B0604020202020204" pitchFamily="34" charset="0"/>
                <a:cs typeface="Arial" panose="020B0604020202020204" pitchFamily="34" charset="0"/>
              </a:rPr>
              <a:t>Ayyub Era 1958-1969</a:t>
            </a:r>
          </a:p>
          <a:p>
            <a:pPr marL="342900" indent="-342900" algn="ctr">
              <a:buFont typeface="Arial" panose="020B0604020202020204" pitchFamily="34" charset="0"/>
              <a:buChar char="•"/>
            </a:pPr>
            <a:r>
              <a:rPr lang="en-US" sz="2800" dirty="0">
                <a:latin typeface="Arial" panose="020B0604020202020204" pitchFamily="34" charset="0"/>
                <a:cs typeface="Arial" panose="020B0604020202020204" pitchFamily="34" charset="0"/>
              </a:rPr>
              <a:t>Introduction of Basic Democracy &amp; Second Constitution 1962</a:t>
            </a:r>
          </a:p>
          <a:p>
            <a:pPr marL="342900" indent="-342900" algn="ctr">
              <a:buFont typeface="Arial" panose="020B0604020202020204" pitchFamily="34" charset="0"/>
              <a:buChar char="•"/>
            </a:pPr>
            <a:r>
              <a:rPr lang="en-US" sz="2800" dirty="0">
                <a:latin typeface="Arial" panose="020B0604020202020204" pitchFamily="34" charset="0"/>
                <a:cs typeface="Arial" panose="020B0604020202020204" pitchFamily="34" charset="0"/>
              </a:rPr>
              <a:t>The Decade of Economic Development</a:t>
            </a:r>
            <a:endParaRPr lang="en-PK" sz="2800"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4AC59EDB-F148-4F51-9E11-E079B1FD0A36}"/>
              </a:ext>
            </a:extLst>
          </p:cNvPr>
          <p:cNvSpPr txBox="1">
            <a:spLocks/>
          </p:cNvSpPr>
          <p:nvPr/>
        </p:nvSpPr>
        <p:spPr>
          <a:xfrm>
            <a:off x="7022237" y="3609016"/>
            <a:ext cx="1911335" cy="497763"/>
          </a:xfrm>
          <a:prstGeom prst="rect">
            <a:avLst/>
          </a:prstGeom>
        </p:spPr>
        <p:txBody>
          <a:bodyPr vert="horz" lIns="91440" tIns="45720" rIns="91440" bIns="45720" rtlCol="0" anchor="b">
            <a:noAutofit/>
          </a:bodyPr>
          <a:lstStyle>
            <a:lvl1pPr algn="r" defTabSz="914400" rtl="0" eaLnBrk="1" latinLnBrk="0" hangingPunct="1">
              <a:lnSpc>
                <a:spcPct val="90000"/>
              </a:lnSpc>
              <a:spcBef>
                <a:spcPct val="0"/>
              </a:spcBef>
              <a:buNone/>
              <a:defRPr sz="4800" kern="1200">
                <a:solidFill>
                  <a:schemeClr val="tx1"/>
                </a:solidFill>
                <a:latin typeface="+mj-lt"/>
                <a:ea typeface="+mj-ea"/>
                <a:cs typeface="+mj-cs"/>
              </a:defRPr>
            </a:lvl1pPr>
          </a:lstStyle>
          <a:p>
            <a:pPr algn="ctr"/>
            <a:r>
              <a:rPr lang="en-US" dirty="0"/>
              <a:t>WEEK</a:t>
            </a:r>
          </a:p>
          <a:p>
            <a:pPr algn="ctr"/>
            <a:r>
              <a:rPr lang="en-US" dirty="0"/>
              <a:t>02</a:t>
            </a:r>
            <a:endParaRPr lang="en-PK" dirty="0"/>
          </a:p>
        </p:txBody>
      </p:sp>
      <p:sp>
        <p:nvSpPr>
          <p:cNvPr id="5" name="Subtitle 2">
            <a:extLst>
              <a:ext uri="{FF2B5EF4-FFF2-40B4-BE49-F238E27FC236}">
                <a16:creationId xmlns:a16="http://schemas.microsoft.com/office/drawing/2014/main" id="{45677CBA-29C2-46B2-8705-3D528B86A286}"/>
              </a:ext>
            </a:extLst>
          </p:cNvPr>
          <p:cNvSpPr txBox="1">
            <a:spLocks/>
          </p:cNvSpPr>
          <p:nvPr/>
        </p:nvSpPr>
        <p:spPr>
          <a:xfrm>
            <a:off x="4776187" y="4302032"/>
            <a:ext cx="4287914" cy="2427243"/>
          </a:xfrm>
          <a:prstGeom prst="rect">
            <a:avLst/>
          </a:prstGeom>
          <a:gradFill>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p:spPr>
        <p:txBody>
          <a:bodyPr vert="horz" lIns="91440" tIns="45720" rIns="91440" bIns="45720" rtlCol="0">
            <a:normAutofit fontScale="92500" lnSpcReduction="20000"/>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800" b="1" u="sng" dirty="0">
                <a:latin typeface="Arial" panose="020B0604020202020204" pitchFamily="34" charset="0"/>
                <a:cs typeface="Arial" panose="020B0604020202020204" pitchFamily="34" charset="0"/>
              </a:rPr>
              <a:t>CLO 02</a:t>
            </a:r>
          </a:p>
          <a:p>
            <a:pPr algn="l"/>
            <a:r>
              <a:rPr lang="en-US" sz="1800" dirty="0">
                <a:latin typeface="Arial" panose="020B0604020202020204" pitchFamily="34" charset="0"/>
                <a:cs typeface="Arial" panose="020B0604020202020204" pitchFamily="34" charset="0"/>
              </a:rPr>
              <a:t>Students will be able to analyze Pakistan’s political and constitutional evolution from 1958 to the present, including civil- military relations, democratic transitions, and governance challenges. Also, able to critically evaluate governance reforms, constitutional amendments, economic initiatives (e.g., CPEC), and their impact on political stability and national development.</a:t>
            </a:r>
          </a:p>
        </p:txBody>
      </p:sp>
      <p:pic>
        <p:nvPicPr>
          <p:cNvPr id="7" name="Picture 6">
            <a:extLst>
              <a:ext uri="{FF2B5EF4-FFF2-40B4-BE49-F238E27FC236}">
                <a16:creationId xmlns:a16="http://schemas.microsoft.com/office/drawing/2014/main" id="{DCD76462-17D2-48D4-94D9-4301D5978226}"/>
              </a:ext>
            </a:extLst>
          </p:cNvPr>
          <p:cNvPicPr>
            <a:picLocks noChangeAspect="1"/>
          </p:cNvPicPr>
          <p:nvPr/>
        </p:nvPicPr>
        <p:blipFill>
          <a:blip r:embed="rId2"/>
          <a:stretch>
            <a:fillRect/>
          </a:stretch>
        </p:blipFill>
        <p:spPr>
          <a:xfrm>
            <a:off x="1775534" y="128726"/>
            <a:ext cx="5592931" cy="2427243"/>
          </a:xfrm>
          <a:prstGeom prst="rect">
            <a:avLst/>
          </a:prstGeom>
        </p:spPr>
      </p:pic>
    </p:spTree>
    <p:extLst>
      <p:ext uri="{BB962C8B-B14F-4D97-AF65-F5344CB8AC3E}">
        <p14:creationId xmlns:p14="http://schemas.microsoft.com/office/powerpoint/2010/main" val="127828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Pakistan’s Historical Trajectory (1958–1971)</a:t>
            </a:r>
          </a:p>
        </p:txBody>
      </p:sp>
      <p:sp>
        <p:nvSpPr>
          <p:cNvPr id="3" name="Content Placeholder 2"/>
          <p:cNvSpPr>
            <a:spLocks noGrp="1"/>
          </p:cNvSpPr>
          <p:nvPr>
            <p:ph idx="1"/>
          </p:nvPr>
        </p:nvSpPr>
        <p:spPr>
          <a:xfrm>
            <a:off x="80640" y="2205752"/>
            <a:ext cx="6737410" cy="4496889"/>
          </a:xfrm>
        </p:spPr>
        <p:txBody>
          <a:bodyPr>
            <a:noAutofit/>
          </a:bodyPr>
          <a:lstStyle/>
          <a:p>
            <a:pPr marL="0" indent="0">
              <a:buNone/>
            </a:pPr>
            <a:r>
              <a:rPr sz="2000" dirty="0"/>
              <a:t>The period from 1958 to 1971 represents one of the most transformative yet turbulent phases in Pakistan’s political history. It began with the first military coup by </a:t>
            </a:r>
            <a:r>
              <a:rPr sz="2000" b="1" u="sng" dirty="0"/>
              <a:t>General </a:t>
            </a:r>
            <a:r>
              <a:rPr sz="2000" b="1" u="sng" dirty="0" err="1"/>
              <a:t>Ayub</a:t>
            </a:r>
            <a:r>
              <a:rPr sz="2000" b="1" u="sng" dirty="0"/>
              <a:t> Khan, </a:t>
            </a:r>
            <a:r>
              <a:rPr sz="2000" dirty="0"/>
              <a:t>which ended parliamentary democracy and introduced authoritarian modernization.</a:t>
            </a:r>
            <a:endParaRPr lang="en-US" sz="2000" dirty="0"/>
          </a:p>
          <a:p>
            <a:r>
              <a:rPr sz="2000" dirty="0"/>
              <a:t>This era witnessed economic growth, institutional restructuring, and constitutional engineering under the Basic Democracies system and the 1962 Constitution. However, it also produced political alienation, regional disparities, and democratic suppression. </a:t>
            </a:r>
            <a:endParaRPr lang="en-US" sz="2000" dirty="0"/>
          </a:p>
          <a:p>
            <a:r>
              <a:rPr sz="2000" dirty="0"/>
              <a:t>The transition to General Yahya Khan’s rule intensified instability, leading to Pakistan’s first general elections and ultimately the tragic dismemberment of the country in 1971. This period reshaped Pakistan’s political culture permanently.</a:t>
            </a:r>
          </a:p>
        </p:txBody>
      </p:sp>
      <p:pic>
        <p:nvPicPr>
          <p:cNvPr id="4" name="Picture 3">
            <a:extLst>
              <a:ext uri="{FF2B5EF4-FFF2-40B4-BE49-F238E27FC236}">
                <a16:creationId xmlns:a16="http://schemas.microsoft.com/office/drawing/2014/main" id="{048BCBE3-7DB0-4E60-B836-23D8D0BFDB48}"/>
              </a:ext>
            </a:extLst>
          </p:cNvPr>
          <p:cNvPicPr>
            <a:picLocks noChangeAspect="1"/>
          </p:cNvPicPr>
          <p:nvPr/>
        </p:nvPicPr>
        <p:blipFill>
          <a:blip r:embed="rId2"/>
          <a:stretch>
            <a:fillRect/>
          </a:stretch>
        </p:blipFill>
        <p:spPr>
          <a:xfrm>
            <a:off x="6787440" y="2646270"/>
            <a:ext cx="2275920" cy="2816733"/>
          </a:xfrm>
          <a:prstGeom prst="rect">
            <a:avLst/>
          </a:prstGeom>
        </p:spPr>
      </p:pic>
      <p:sp>
        <p:nvSpPr>
          <p:cNvPr id="6" name="TextBox 5">
            <a:extLst>
              <a:ext uri="{FF2B5EF4-FFF2-40B4-BE49-F238E27FC236}">
                <a16:creationId xmlns:a16="http://schemas.microsoft.com/office/drawing/2014/main" id="{90276CD6-5728-4E2E-BC02-13016BFFF197}"/>
              </a:ext>
            </a:extLst>
          </p:cNvPr>
          <p:cNvSpPr txBox="1"/>
          <p:nvPr/>
        </p:nvSpPr>
        <p:spPr>
          <a:xfrm>
            <a:off x="6787441" y="5472170"/>
            <a:ext cx="2275920" cy="369332"/>
          </a:xfrm>
          <a:prstGeom prst="rect">
            <a:avLst/>
          </a:prstGeom>
          <a:noFill/>
        </p:spPr>
        <p:txBody>
          <a:bodyPr wrap="square">
            <a:spAutoFit/>
          </a:bodyPr>
          <a:lstStyle/>
          <a:p>
            <a:pPr algn="ctr"/>
            <a:r>
              <a:rPr lang="en-US" sz="1800" dirty="0"/>
              <a:t>General </a:t>
            </a:r>
            <a:r>
              <a:rPr lang="en-US" sz="1800" dirty="0" err="1"/>
              <a:t>Ayub</a:t>
            </a:r>
            <a:r>
              <a:rPr lang="en-US" sz="1800" dirty="0"/>
              <a:t> Khan</a:t>
            </a:r>
            <a:endParaRPr lang="en-PK"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 to Ayub Khan’s Coup (1958)</a:t>
            </a:r>
          </a:p>
        </p:txBody>
      </p:sp>
      <p:sp>
        <p:nvSpPr>
          <p:cNvPr id="3" name="Content Placeholder 2"/>
          <p:cNvSpPr>
            <a:spLocks noGrp="1"/>
          </p:cNvSpPr>
          <p:nvPr>
            <p:ph idx="1"/>
          </p:nvPr>
        </p:nvSpPr>
        <p:spPr>
          <a:xfrm>
            <a:off x="3737027" y="2086253"/>
            <a:ext cx="5290148" cy="4669654"/>
          </a:xfrm>
        </p:spPr>
        <p:txBody>
          <a:bodyPr>
            <a:normAutofit fontScale="92500" lnSpcReduction="10000"/>
          </a:bodyPr>
          <a:lstStyle/>
          <a:p>
            <a:pPr marL="0" indent="0">
              <a:lnSpc>
                <a:spcPct val="120000"/>
              </a:lnSpc>
              <a:buNone/>
            </a:pPr>
            <a:r>
              <a:rPr sz="1800" dirty="0"/>
              <a:t>Pakistan’s early years were marked by constitutional instability, frequent government changes, and weak political institutions. Political infighting among elites, corruption, and administrative inefficiency weakened democratic governance. Between 1947 and 1958, several prime ministers were dismissed before completing terms, creating chaos. Bureaucracy and military gradually gained influence. </a:t>
            </a:r>
            <a:endParaRPr lang="en-US" sz="1800" dirty="0"/>
          </a:p>
          <a:p>
            <a:pPr marL="0" indent="0">
              <a:lnSpc>
                <a:spcPct val="120000"/>
              </a:lnSpc>
              <a:buNone/>
            </a:pPr>
            <a:r>
              <a:rPr sz="1800" b="1" u="sng" dirty="0"/>
              <a:t>President </a:t>
            </a:r>
            <a:r>
              <a:rPr sz="1800" b="1" u="sng" dirty="0" err="1"/>
              <a:t>Iskander</a:t>
            </a:r>
            <a:r>
              <a:rPr sz="1800" b="1" u="sng" dirty="0"/>
              <a:t> Mirza </a:t>
            </a:r>
            <a:r>
              <a:rPr sz="1800" dirty="0"/>
              <a:t>imposed martial law in October 1958 in collaboration with Army Chief </a:t>
            </a:r>
            <a:r>
              <a:rPr sz="1800" dirty="0" err="1"/>
              <a:t>Ayub</a:t>
            </a:r>
            <a:r>
              <a:rPr sz="1800" dirty="0"/>
              <a:t> Khan. Soon after, </a:t>
            </a:r>
            <a:r>
              <a:rPr sz="1800" dirty="0" err="1"/>
              <a:t>Ayub</a:t>
            </a:r>
            <a:r>
              <a:rPr sz="1800" dirty="0"/>
              <a:t> removed Mirza and assumed full authority, marking Pakistan’s first direct military takeover and the end of parliamentary democracy.</a:t>
            </a:r>
          </a:p>
        </p:txBody>
      </p:sp>
      <p:pic>
        <p:nvPicPr>
          <p:cNvPr id="4" name="Picture 3">
            <a:extLst>
              <a:ext uri="{FF2B5EF4-FFF2-40B4-BE49-F238E27FC236}">
                <a16:creationId xmlns:a16="http://schemas.microsoft.com/office/drawing/2014/main" id="{54B0AAD6-8EA0-47AF-8118-D491A92654E2}"/>
              </a:ext>
            </a:extLst>
          </p:cNvPr>
          <p:cNvPicPr>
            <a:picLocks noChangeAspect="1"/>
          </p:cNvPicPr>
          <p:nvPr/>
        </p:nvPicPr>
        <p:blipFill>
          <a:blip r:embed="rId2"/>
          <a:stretch>
            <a:fillRect/>
          </a:stretch>
        </p:blipFill>
        <p:spPr>
          <a:xfrm>
            <a:off x="116825" y="2289858"/>
            <a:ext cx="3522472" cy="39831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Ayub</a:t>
            </a:r>
            <a:r>
              <a:rPr dirty="0"/>
              <a:t> Khan’s Governance Philosophy</a:t>
            </a:r>
          </a:p>
        </p:txBody>
      </p:sp>
      <p:sp>
        <p:nvSpPr>
          <p:cNvPr id="3" name="Content Placeholder 2"/>
          <p:cNvSpPr>
            <a:spLocks noGrp="1"/>
          </p:cNvSpPr>
          <p:nvPr>
            <p:ph idx="1"/>
          </p:nvPr>
        </p:nvSpPr>
        <p:spPr>
          <a:xfrm>
            <a:off x="0" y="2050742"/>
            <a:ext cx="9010835" cy="4634143"/>
          </a:xfrm>
        </p:spPr>
        <p:txBody>
          <a:bodyPr>
            <a:noAutofit/>
          </a:bodyPr>
          <a:lstStyle/>
          <a:p>
            <a:r>
              <a:rPr b="1" u="sng" dirty="0" err="1"/>
              <a:t>Ayub</a:t>
            </a:r>
            <a:r>
              <a:rPr b="1" u="sng" dirty="0"/>
              <a:t> Khan </a:t>
            </a:r>
            <a:r>
              <a:rPr dirty="0"/>
              <a:t>believed Pakistan required strong centralized leadership rather than parliamentary politics. He argued that Western democracy was unsuitable for Pakistan’s social structure. </a:t>
            </a:r>
            <a:endParaRPr lang="en-US" dirty="0"/>
          </a:p>
          <a:p>
            <a:r>
              <a:rPr dirty="0"/>
              <a:t>His governance focused on discipline, modernization, and technocratic planning. Political opposition was suppressed, civil liberties were restricted, and press freedom was limited. </a:t>
            </a:r>
            <a:endParaRPr lang="en-US" dirty="0"/>
          </a:p>
          <a:p>
            <a:r>
              <a:rPr dirty="0"/>
              <a:t>At the same time, he emphasized </a:t>
            </a:r>
            <a:r>
              <a:rPr b="1" u="sng" dirty="0"/>
              <a:t>economic reforms, administrative efficiency, and national development.</a:t>
            </a:r>
            <a:endParaRPr lang="en-US" b="1" u="sng" dirty="0"/>
          </a:p>
          <a:p>
            <a:r>
              <a:rPr dirty="0" err="1"/>
              <a:t>Ayub</a:t>
            </a:r>
            <a:r>
              <a:rPr dirty="0"/>
              <a:t> presented himself as a modern reformer who could stabilize the country. However, his authoritarian style created resentment among political parties, students, and intellectuals who demanded democratic restoration.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Democracies System (1959)</a:t>
            </a:r>
          </a:p>
        </p:txBody>
      </p:sp>
      <p:sp>
        <p:nvSpPr>
          <p:cNvPr id="3" name="Content Placeholder 2"/>
          <p:cNvSpPr>
            <a:spLocks noGrp="1"/>
          </p:cNvSpPr>
          <p:nvPr>
            <p:ph idx="1"/>
          </p:nvPr>
        </p:nvSpPr>
        <p:spPr>
          <a:xfrm>
            <a:off x="0" y="2077026"/>
            <a:ext cx="5343617" cy="4774141"/>
          </a:xfrm>
        </p:spPr>
        <p:txBody>
          <a:bodyPr>
            <a:noAutofit/>
          </a:bodyPr>
          <a:lstStyle/>
          <a:p>
            <a:pPr marL="0" indent="0">
              <a:buNone/>
            </a:pPr>
            <a:r>
              <a:rPr sz="2000" dirty="0"/>
              <a:t>The Basic Democracies system introduced in 1959 aimed to restructure local governance through elected councils at village and urban levels. Approximately 80,000 Basic Democrats were elected to manage local development and administrative issues. However, the system’s real purpose was political control. These representatives formed the electoral college for presidential elections and constitutional referendums. Political parties were excluded, and mass political participation was limited. Although some local development occurred, the system mainly strengthened </a:t>
            </a:r>
            <a:r>
              <a:rPr sz="2000" dirty="0" err="1"/>
              <a:t>Ayub</a:t>
            </a:r>
            <a:r>
              <a:rPr sz="2000" dirty="0"/>
              <a:t> Khan’s authority and weakened democratic institutions at the national level.</a:t>
            </a:r>
          </a:p>
        </p:txBody>
      </p:sp>
      <p:pic>
        <p:nvPicPr>
          <p:cNvPr id="1026" name="Picture 2" descr="Ayub Khan's Basic Democracies – khalidriazblog">
            <a:extLst>
              <a:ext uri="{FF2B5EF4-FFF2-40B4-BE49-F238E27FC236}">
                <a16:creationId xmlns:a16="http://schemas.microsoft.com/office/drawing/2014/main" id="{07A0D423-0C33-4E5E-B36D-A17E8A8A8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3437" y="2065079"/>
            <a:ext cx="3902131" cy="4664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Political Impact of Basic Democracies</a:t>
            </a:r>
          </a:p>
        </p:txBody>
      </p:sp>
      <p:sp>
        <p:nvSpPr>
          <p:cNvPr id="3" name="Content Placeholder 2"/>
          <p:cNvSpPr>
            <a:spLocks noGrp="1"/>
          </p:cNvSpPr>
          <p:nvPr>
            <p:ph idx="1"/>
          </p:nvPr>
        </p:nvSpPr>
        <p:spPr>
          <a:xfrm>
            <a:off x="3562350" y="1990725"/>
            <a:ext cx="5581650" cy="4514849"/>
          </a:xfrm>
        </p:spPr>
        <p:txBody>
          <a:bodyPr>
            <a:noAutofit/>
          </a:bodyPr>
          <a:lstStyle/>
          <a:p>
            <a:r>
              <a:rPr sz="2000" dirty="0"/>
              <a:t>The Basic Democracies system transformed Pakistan’s political structure by replacing representative democracy with controlled participation. It reduced the role of political parties and limited citizen influence over national decision-making. </a:t>
            </a:r>
            <a:endParaRPr lang="en-US" sz="2000" dirty="0"/>
          </a:p>
          <a:p>
            <a:r>
              <a:rPr sz="2000" dirty="0" err="1"/>
              <a:t>Ayub</a:t>
            </a:r>
            <a:r>
              <a:rPr sz="2000" dirty="0"/>
              <a:t> Khan used it to legitimize his presidency through indirect elections. While it </a:t>
            </a:r>
            <a:r>
              <a:rPr sz="2000" b="1" u="sng" dirty="0"/>
              <a:t>created administrative decentralization on paper, power remained centralized. </a:t>
            </a:r>
            <a:endParaRPr lang="en-US" sz="2000" b="1" u="sng" dirty="0"/>
          </a:p>
          <a:p>
            <a:r>
              <a:rPr sz="2000" dirty="0"/>
              <a:t>The system encouraged patronage politics and loyalty to the regime rather than accountability to voters. Over time, people recognized its undemocratic nature, contributing to growing dissatisfaction and resistance against military rule.</a:t>
            </a:r>
          </a:p>
        </p:txBody>
      </p:sp>
      <p:pic>
        <p:nvPicPr>
          <p:cNvPr id="4" name="Picture 3">
            <a:extLst>
              <a:ext uri="{FF2B5EF4-FFF2-40B4-BE49-F238E27FC236}">
                <a16:creationId xmlns:a16="http://schemas.microsoft.com/office/drawing/2014/main" id="{395139FB-B446-42D7-962C-BB03C6749470}"/>
              </a:ext>
            </a:extLst>
          </p:cNvPr>
          <p:cNvPicPr>
            <a:picLocks noChangeAspect="1"/>
          </p:cNvPicPr>
          <p:nvPr/>
        </p:nvPicPr>
        <p:blipFill>
          <a:blip r:embed="rId2"/>
          <a:stretch>
            <a:fillRect/>
          </a:stretch>
        </p:blipFill>
        <p:spPr>
          <a:xfrm>
            <a:off x="85395" y="1990725"/>
            <a:ext cx="3410279" cy="47606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Constitution of 1962 – Main Features</a:t>
            </a:r>
          </a:p>
        </p:txBody>
      </p:sp>
      <p:sp>
        <p:nvSpPr>
          <p:cNvPr id="3" name="Content Placeholder 2"/>
          <p:cNvSpPr>
            <a:spLocks noGrp="1"/>
          </p:cNvSpPr>
          <p:nvPr>
            <p:ph idx="1"/>
          </p:nvPr>
        </p:nvSpPr>
        <p:spPr>
          <a:xfrm>
            <a:off x="0" y="3923844"/>
            <a:ext cx="9144000" cy="2778052"/>
          </a:xfrm>
        </p:spPr>
        <p:txBody>
          <a:bodyPr>
            <a:noAutofit/>
          </a:bodyPr>
          <a:lstStyle/>
          <a:p>
            <a:r>
              <a:rPr sz="2000" dirty="0"/>
              <a:t>The 1962 Constitution established a </a:t>
            </a:r>
            <a:r>
              <a:rPr sz="2000" b="1" u="sng" dirty="0"/>
              <a:t>presidential system </a:t>
            </a:r>
            <a:r>
              <a:rPr sz="2000" dirty="0"/>
              <a:t>with extensive executive powers. The president served as both head of state and government. The National Assembly was indirectly elected through Basic Democrats. Political parties were initially banned, weakening opposition. </a:t>
            </a:r>
            <a:endParaRPr lang="en-US" sz="2000" dirty="0"/>
          </a:p>
          <a:p>
            <a:r>
              <a:rPr sz="2000" b="1" u="sng" dirty="0"/>
              <a:t>The judiciary’s independence was limited</a:t>
            </a:r>
            <a:r>
              <a:rPr sz="2000" dirty="0"/>
              <a:t>, reducing checks on executive authority. Fundamental rights were suspended initially and later restored with restrictions. The constitution aimed to ensure stability and efficiency but sacrificed democratic representation. It provided legal cover for authoritarian governance while marginalizing public participation in politics.</a:t>
            </a:r>
          </a:p>
        </p:txBody>
      </p:sp>
      <p:pic>
        <p:nvPicPr>
          <p:cNvPr id="4" name="Picture 3">
            <a:extLst>
              <a:ext uri="{FF2B5EF4-FFF2-40B4-BE49-F238E27FC236}">
                <a16:creationId xmlns:a16="http://schemas.microsoft.com/office/drawing/2014/main" id="{88518A4E-744C-4C53-88FC-A192DDE3DDE7}"/>
              </a:ext>
            </a:extLst>
          </p:cNvPr>
          <p:cNvPicPr>
            <a:picLocks noChangeAspect="1"/>
          </p:cNvPicPr>
          <p:nvPr/>
        </p:nvPicPr>
        <p:blipFill>
          <a:blip r:embed="rId2"/>
          <a:stretch>
            <a:fillRect/>
          </a:stretch>
        </p:blipFill>
        <p:spPr>
          <a:xfrm>
            <a:off x="895350" y="2037714"/>
            <a:ext cx="3334094" cy="1826599"/>
          </a:xfrm>
          <a:prstGeom prst="rect">
            <a:avLst/>
          </a:prstGeom>
        </p:spPr>
      </p:pic>
      <p:pic>
        <p:nvPicPr>
          <p:cNvPr id="2050" name="Picture 2" descr="Caught Between The State And Religion ...">
            <a:extLst>
              <a:ext uri="{FF2B5EF4-FFF2-40B4-BE49-F238E27FC236}">
                <a16:creationId xmlns:a16="http://schemas.microsoft.com/office/drawing/2014/main" id="{D94F5E39-5B95-4183-8EE7-8D7ABFE28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6350" y="2037714"/>
            <a:ext cx="2942883" cy="1826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Effects on Democratic Development</a:t>
            </a:r>
          </a:p>
        </p:txBody>
      </p:sp>
      <p:sp>
        <p:nvSpPr>
          <p:cNvPr id="3" name="Content Placeholder 2"/>
          <p:cNvSpPr>
            <a:spLocks noGrp="1"/>
          </p:cNvSpPr>
          <p:nvPr>
            <p:ph idx="1"/>
          </p:nvPr>
        </p:nvSpPr>
        <p:spPr>
          <a:xfrm>
            <a:off x="3562350" y="1981200"/>
            <a:ext cx="5676900" cy="4876800"/>
          </a:xfrm>
        </p:spPr>
        <p:txBody>
          <a:bodyPr>
            <a:noAutofit/>
          </a:bodyPr>
          <a:lstStyle/>
          <a:p>
            <a:r>
              <a:rPr sz="2000" dirty="0"/>
              <a:t>The 1962 Constitution severely </a:t>
            </a:r>
            <a:r>
              <a:rPr sz="2000" b="1" u="sng" dirty="0"/>
              <a:t>weakened democracy in Pakistan.</a:t>
            </a:r>
            <a:r>
              <a:rPr sz="2000" dirty="0"/>
              <a:t> Direct elections were removed, reducing public influence over leadership. Political repression increased, and accountability declined. </a:t>
            </a:r>
            <a:endParaRPr lang="en-US" sz="2000" dirty="0"/>
          </a:p>
          <a:p>
            <a:r>
              <a:rPr sz="2000" b="1" u="sng" dirty="0"/>
              <a:t>The concentration of power </a:t>
            </a:r>
            <a:r>
              <a:rPr sz="2000" dirty="0"/>
              <a:t>encouraged authoritarian tendencies. Although stability was claimed, political frustration grew across society. Students, workers, and opposition leaders criticized the regime’s undemocratic nature. </a:t>
            </a:r>
            <a:endParaRPr lang="en-US" sz="2000" dirty="0"/>
          </a:p>
          <a:p>
            <a:r>
              <a:rPr sz="2000" dirty="0"/>
              <a:t>The constitution failed to reflect diverse regional demands and political aspirations. This structural imbalance fueled unrest that eventually undermined </a:t>
            </a:r>
            <a:r>
              <a:rPr sz="2000" dirty="0" err="1"/>
              <a:t>Ayub</a:t>
            </a:r>
            <a:r>
              <a:rPr sz="2000" dirty="0"/>
              <a:t> Khan’s rule and contributed to long-term </a:t>
            </a:r>
            <a:r>
              <a:rPr sz="2000" b="1" u="sng" dirty="0"/>
              <a:t>political instability</a:t>
            </a:r>
            <a:r>
              <a:rPr sz="2000" dirty="0"/>
              <a:t>.</a:t>
            </a:r>
          </a:p>
        </p:txBody>
      </p:sp>
      <p:pic>
        <p:nvPicPr>
          <p:cNvPr id="4098" name="Picture 2" descr="1968–69 Pakistan revolution - Wikipedia">
            <a:extLst>
              <a:ext uri="{FF2B5EF4-FFF2-40B4-BE49-F238E27FC236}">
                <a16:creationId xmlns:a16="http://schemas.microsoft.com/office/drawing/2014/main" id="{7308CF51-1136-44DC-8C50-62C7BC97D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27" y="2488986"/>
            <a:ext cx="3492510" cy="3450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Decade of Development – Economic Strategy</a:t>
            </a:r>
          </a:p>
        </p:txBody>
      </p:sp>
      <p:sp>
        <p:nvSpPr>
          <p:cNvPr id="3" name="Content Placeholder 2"/>
          <p:cNvSpPr>
            <a:spLocks noGrp="1"/>
          </p:cNvSpPr>
          <p:nvPr>
            <p:ph idx="1"/>
          </p:nvPr>
        </p:nvSpPr>
        <p:spPr>
          <a:xfrm>
            <a:off x="0" y="2126570"/>
            <a:ext cx="5695950" cy="4807630"/>
          </a:xfrm>
        </p:spPr>
        <p:txBody>
          <a:bodyPr>
            <a:normAutofit fontScale="92500" lnSpcReduction="10000"/>
          </a:bodyPr>
          <a:lstStyle/>
          <a:p>
            <a:r>
              <a:rPr sz="2000" dirty="0"/>
              <a:t>The 1960s were labeled the Decade of Development due to rapid economic growth under </a:t>
            </a:r>
            <a:r>
              <a:rPr sz="2000" dirty="0" err="1"/>
              <a:t>Ayub</a:t>
            </a:r>
            <a:r>
              <a:rPr sz="2000" dirty="0"/>
              <a:t> Khan. </a:t>
            </a:r>
            <a:endParaRPr lang="en-US" sz="2000" dirty="0"/>
          </a:p>
          <a:p>
            <a:r>
              <a:rPr sz="2000" dirty="0"/>
              <a:t>The government emphasized </a:t>
            </a:r>
            <a:r>
              <a:rPr sz="2000" b="1" u="sng" dirty="0"/>
              <a:t>industrialization, infrastructure development, and agricultural modernization.</a:t>
            </a:r>
            <a:r>
              <a:rPr sz="2000" dirty="0"/>
              <a:t> </a:t>
            </a:r>
            <a:endParaRPr lang="en-US" sz="2000" dirty="0"/>
          </a:p>
          <a:p>
            <a:r>
              <a:rPr sz="2000" b="1" u="sng" dirty="0"/>
              <a:t>Five-Year Plans</a:t>
            </a:r>
            <a:r>
              <a:rPr sz="2000" dirty="0"/>
              <a:t> encouraged private investment and export industries. </a:t>
            </a:r>
            <a:endParaRPr lang="en-US" sz="2000" dirty="0"/>
          </a:p>
          <a:p>
            <a:r>
              <a:rPr sz="2000" dirty="0"/>
              <a:t>Major projects included dams, highways, and irrigation networks. </a:t>
            </a:r>
            <a:endParaRPr lang="en-US" sz="2000" dirty="0"/>
          </a:p>
          <a:p>
            <a:r>
              <a:rPr sz="2000" dirty="0"/>
              <a:t>Pakistan achieved </a:t>
            </a:r>
            <a:r>
              <a:rPr sz="2000" b="1" u="sng" dirty="0"/>
              <a:t>high GDP growth rates</a:t>
            </a:r>
            <a:r>
              <a:rPr sz="2000" dirty="0"/>
              <a:t> and gained international recognition as a developing economy model. </a:t>
            </a:r>
            <a:endParaRPr lang="en-US" sz="2000" dirty="0"/>
          </a:p>
          <a:p>
            <a:r>
              <a:rPr sz="2000" dirty="0"/>
              <a:t>However, economic benefits were unevenly distributed, favoring urban elites and industrialists while neglecting rural populations and poorer regions.</a:t>
            </a:r>
          </a:p>
        </p:txBody>
      </p:sp>
      <p:pic>
        <p:nvPicPr>
          <p:cNvPr id="4098" name="Picture 2" descr="How Has Pakistan's Economy Performed Since Independence?">
            <a:extLst>
              <a:ext uri="{FF2B5EF4-FFF2-40B4-BE49-F238E27FC236}">
                <a16:creationId xmlns:a16="http://schemas.microsoft.com/office/drawing/2014/main" id="{3733A53A-A497-4E92-8184-A204B0C9D5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2126570"/>
            <a:ext cx="3581400" cy="215280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 Silver Lining In Key Indicators? - Sp Supplements - DAWN.COM">
            <a:extLst>
              <a:ext uri="{FF2B5EF4-FFF2-40B4-BE49-F238E27FC236}">
                <a16:creationId xmlns:a16="http://schemas.microsoft.com/office/drawing/2014/main" id="{2B01ABF2-B627-48C6-9D00-98EFA100C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4406419"/>
            <a:ext cx="3581400" cy="20801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Industrial Expansion and Wealth Concentration</a:t>
            </a:r>
          </a:p>
        </p:txBody>
      </p:sp>
      <p:sp>
        <p:nvSpPr>
          <p:cNvPr id="3" name="Content Placeholder 2"/>
          <p:cNvSpPr>
            <a:spLocks noGrp="1"/>
          </p:cNvSpPr>
          <p:nvPr>
            <p:ph idx="1"/>
          </p:nvPr>
        </p:nvSpPr>
        <p:spPr>
          <a:xfrm>
            <a:off x="3857625" y="2003497"/>
            <a:ext cx="5286375" cy="4787827"/>
          </a:xfrm>
        </p:spPr>
        <p:txBody>
          <a:bodyPr>
            <a:noAutofit/>
          </a:bodyPr>
          <a:lstStyle/>
          <a:p>
            <a:r>
              <a:rPr sz="2000" b="1" u="sng" dirty="0"/>
              <a:t>Industrial growth </a:t>
            </a:r>
            <a:r>
              <a:rPr sz="2000" dirty="0"/>
              <a:t>led to the rise of powerful business families controlling major sectors such as textiles, cement, and banking. Government policies provided loans, tax incentives, and protection to large enterprises. While industrial output increased significantly, wealth became concentrated among a small elite commonly known as the </a:t>
            </a:r>
            <a:r>
              <a:rPr sz="2000" b="1" u="sng" dirty="0"/>
              <a:t>‘22 families.’ </a:t>
            </a:r>
            <a:endParaRPr lang="en-US" sz="2000" b="1" u="sng" dirty="0"/>
          </a:p>
          <a:p>
            <a:r>
              <a:rPr sz="2000" dirty="0"/>
              <a:t>This inequality created social tension and resentment among workers and lower-income groups. Small industries struggled to compete. The perception that development benefited only the rich weakened public trust in the government’s economic policies.</a:t>
            </a:r>
          </a:p>
        </p:txBody>
      </p:sp>
      <p:pic>
        <p:nvPicPr>
          <p:cNvPr id="5122" name="Picture 2" descr="President Ayub Khan | Flickr">
            <a:extLst>
              <a:ext uri="{FF2B5EF4-FFF2-40B4-BE49-F238E27FC236}">
                <a16:creationId xmlns:a16="http://schemas.microsoft.com/office/drawing/2014/main" id="{AE80CAAE-2281-4D61-B512-09BE5593C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43125"/>
            <a:ext cx="3926337" cy="43529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Agricultural Reforms and Rural Outcomes</a:t>
            </a:r>
          </a:p>
        </p:txBody>
      </p:sp>
      <p:sp>
        <p:nvSpPr>
          <p:cNvPr id="3" name="Content Placeholder 2"/>
          <p:cNvSpPr>
            <a:spLocks noGrp="1"/>
          </p:cNvSpPr>
          <p:nvPr>
            <p:ph idx="1"/>
          </p:nvPr>
        </p:nvSpPr>
        <p:spPr>
          <a:xfrm>
            <a:off x="85725" y="2146373"/>
            <a:ext cx="4695825" cy="4568752"/>
          </a:xfrm>
        </p:spPr>
        <p:txBody>
          <a:bodyPr>
            <a:normAutofit fontScale="85000" lnSpcReduction="20000"/>
          </a:bodyPr>
          <a:lstStyle/>
          <a:p>
            <a:pPr>
              <a:lnSpc>
                <a:spcPct val="120000"/>
              </a:lnSpc>
            </a:pPr>
            <a:r>
              <a:rPr sz="2000" dirty="0" err="1"/>
              <a:t>Ayub</a:t>
            </a:r>
            <a:r>
              <a:rPr sz="2000" dirty="0"/>
              <a:t> Khan introduced </a:t>
            </a:r>
            <a:r>
              <a:rPr sz="2000" b="1" u="sng" dirty="0"/>
              <a:t>land reforms </a:t>
            </a:r>
            <a:r>
              <a:rPr sz="2000" dirty="0"/>
              <a:t>to limit large estates and redistribute land to farmers. Mechanization, better seeds, and irrigation expanded agricultural production. Crop yields improved, especially wheat and rice. </a:t>
            </a:r>
            <a:endParaRPr lang="en-US" sz="2000" dirty="0"/>
          </a:p>
          <a:p>
            <a:pPr>
              <a:lnSpc>
                <a:spcPct val="120000"/>
              </a:lnSpc>
            </a:pPr>
            <a:r>
              <a:rPr sz="2000" dirty="0"/>
              <a:t>However, powerful landlords avoided reform through legal loopholes and retained most of their land. Small farmers received limited benefits and remained economically vulnerable. </a:t>
            </a:r>
            <a:endParaRPr lang="en-US" sz="2000" dirty="0"/>
          </a:p>
          <a:p>
            <a:pPr>
              <a:lnSpc>
                <a:spcPct val="120000"/>
              </a:lnSpc>
            </a:pPr>
            <a:r>
              <a:rPr sz="2000" dirty="0"/>
              <a:t>Although productivity increased, social justice goals were largely unmet. Rural inequality persisted, reinforcing traditional power structures and limiting genuine agrarian transformation.</a:t>
            </a:r>
          </a:p>
        </p:txBody>
      </p:sp>
      <p:pic>
        <p:nvPicPr>
          <p:cNvPr id="6146" name="Picture 2" descr="(Not so) Islamic land reforms">
            <a:extLst>
              <a:ext uri="{FF2B5EF4-FFF2-40B4-BE49-F238E27FC236}">
                <a16:creationId xmlns:a16="http://schemas.microsoft.com/office/drawing/2014/main" id="{0CAFA698-1915-4512-B885-0B05D4B4E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7755" y="2476501"/>
            <a:ext cx="4323547" cy="32426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Regional Economic Disparities</a:t>
            </a:r>
          </a:p>
        </p:txBody>
      </p:sp>
      <p:sp>
        <p:nvSpPr>
          <p:cNvPr id="3" name="Content Placeholder 2"/>
          <p:cNvSpPr>
            <a:spLocks noGrp="1"/>
          </p:cNvSpPr>
          <p:nvPr>
            <p:ph idx="1"/>
          </p:nvPr>
        </p:nvSpPr>
        <p:spPr>
          <a:xfrm>
            <a:off x="3190874" y="2003497"/>
            <a:ext cx="5953125" cy="4854503"/>
          </a:xfrm>
        </p:spPr>
        <p:txBody>
          <a:bodyPr>
            <a:noAutofit/>
          </a:bodyPr>
          <a:lstStyle/>
          <a:p>
            <a:r>
              <a:rPr sz="2000" dirty="0"/>
              <a:t>Economic development heavily favored West Pakistan, particularly Punjab and Karachi. Most industrial investment, infrastructure, and defense spending were concentrated there. </a:t>
            </a:r>
            <a:endParaRPr lang="en-US" sz="2000" dirty="0"/>
          </a:p>
          <a:p>
            <a:r>
              <a:rPr sz="2000" dirty="0"/>
              <a:t>East Pakistan, despite having a larger population, received fewer resources and development projects. Bengalis felt economically exploited as raw material suppliers without fair returns. </a:t>
            </a:r>
            <a:endParaRPr lang="en-US" sz="2000" dirty="0"/>
          </a:p>
          <a:p>
            <a:r>
              <a:rPr sz="2000" dirty="0"/>
              <a:t>This imbalance intensified political frustration and strengthened demands for provincial autonomy. </a:t>
            </a:r>
            <a:endParaRPr lang="en-US" sz="2000" dirty="0"/>
          </a:p>
          <a:p>
            <a:r>
              <a:rPr sz="2000" b="1" u="sng" dirty="0"/>
              <a:t>Sheikh Mujibur Rahman’s Six Point Movement </a:t>
            </a:r>
            <a:r>
              <a:rPr sz="2000" dirty="0"/>
              <a:t>emerged largely as a response to economic injustice and political marginalization experienced by East Pakistan.</a:t>
            </a:r>
          </a:p>
        </p:txBody>
      </p:sp>
      <p:pic>
        <p:nvPicPr>
          <p:cNvPr id="4" name="Picture 2" descr="1968-1969: Pakistani students, workers, and peasants bring down a dictator  | libcom.org">
            <a:extLst>
              <a:ext uri="{FF2B5EF4-FFF2-40B4-BE49-F238E27FC236}">
                <a16:creationId xmlns:a16="http://schemas.microsoft.com/office/drawing/2014/main" id="{3395EB55-88DF-4BF0-B693-34401B4ED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54" y="2314575"/>
            <a:ext cx="3134345" cy="40576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Opposition Movements Against Ayub Khan</a:t>
            </a:r>
          </a:p>
        </p:txBody>
      </p:sp>
      <p:sp>
        <p:nvSpPr>
          <p:cNvPr id="3" name="Content Placeholder 2"/>
          <p:cNvSpPr>
            <a:spLocks noGrp="1"/>
          </p:cNvSpPr>
          <p:nvPr>
            <p:ph idx="1"/>
          </p:nvPr>
        </p:nvSpPr>
        <p:spPr>
          <a:xfrm>
            <a:off x="0" y="2108272"/>
            <a:ext cx="5076825" cy="4749728"/>
          </a:xfrm>
        </p:spPr>
        <p:txBody>
          <a:bodyPr>
            <a:normAutofit lnSpcReduction="10000"/>
          </a:bodyPr>
          <a:lstStyle/>
          <a:p>
            <a:r>
              <a:rPr sz="2000" dirty="0"/>
              <a:t>By the late 1960s, widespread protests erupted across Pakistan. </a:t>
            </a:r>
            <a:endParaRPr lang="en-US" sz="2000" dirty="0"/>
          </a:p>
          <a:p>
            <a:r>
              <a:rPr sz="2000" dirty="0"/>
              <a:t>Students demanded political freedom, workers opposed inequality, and politicians called for democracy. </a:t>
            </a:r>
            <a:endParaRPr lang="en-US" sz="2000" dirty="0"/>
          </a:p>
          <a:p>
            <a:r>
              <a:rPr sz="2000" dirty="0"/>
              <a:t>The 1965 war with India damaged </a:t>
            </a:r>
            <a:r>
              <a:rPr sz="2000" dirty="0" err="1"/>
              <a:t>Ayub</a:t>
            </a:r>
            <a:r>
              <a:rPr sz="2000" dirty="0"/>
              <a:t> Khan’s image of strength. Rising inflation and unemployment increased public hardship. </a:t>
            </a:r>
            <a:endParaRPr lang="en-US" sz="2000" dirty="0"/>
          </a:p>
          <a:p>
            <a:r>
              <a:rPr sz="2000" dirty="0"/>
              <a:t>Zulfikar Ali Bhutto mobilized mass support through socialist and populist slogans. </a:t>
            </a:r>
            <a:endParaRPr lang="en-US" sz="2000" dirty="0"/>
          </a:p>
          <a:p>
            <a:r>
              <a:rPr sz="2000" dirty="0"/>
              <a:t>Strikes and demonstrations paralyzed major cities. Unable to control the unrest, </a:t>
            </a:r>
            <a:r>
              <a:rPr sz="2000" dirty="0" err="1"/>
              <a:t>Ayub</a:t>
            </a:r>
            <a:r>
              <a:rPr sz="2000" dirty="0"/>
              <a:t> Khan resigned in 1969, ending a decade of military-dominated rule.</a:t>
            </a:r>
          </a:p>
        </p:txBody>
      </p:sp>
      <p:pic>
        <p:nvPicPr>
          <p:cNvPr id="7170" name="Picture 2" descr="Zulfiqar Bhutto taking oath as Ayub Khan's minister">
            <a:extLst>
              <a:ext uri="{FF2B5EF4-FFF2-40B4-BE49-F238E27FC236}">
                <a16:creationId xmlns:a16="http://schemas.microsoft.com/office/drawing/2014/main" id="{72B0356B-1545-4B9F-9196-870D5C99FF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584"/>
          <a:stretch/>
        </p:blipFill>
        <p:spPr bwMode="auto">
          <a:xfrm>
            <a:off x="4909065" y="2155896"/>
            <a:ext cx="4094750" cy="43592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Yahya Khan’s Takeover (1969)</a:t>
            </a:r>
          </a:p>
        </p:txBody>
      </p:sp>
      <p:sp>
        <p:nvSpPr>
          <p:cNvPr id="3" name="Content Placeholder 2"/>
          <p:cNvSpPr>
            <a:spLocks noGrp="1"/>
          </p:cNvSpPr>
          <p:nvPr>
            <p:ph idx="1"/>
          </p:nvPr>
        </p:nvSpPr>
        <p:spPr>
          <a:xfrm>
            <a:off x="3895725" y="2000250"/>
            <a:ext cx="5239564" cy="4857750"/>
          </a:xfrm>
        </p:spPr>
        <p:txBody>
          <a:bodyPr>
            <a:normAutofit fontScale="92500" lnSpcReduction="10000"/>
          </a:bodyPr>
          <a:lstStyle/>
          <a:p>
            <a:r>
              <a:rPr sz="2000" dirty="0"/>
              <a:t>General Yahya Khan assumed power after </a:t>
            </a:r>
            <a:r>
              <a:rPr sz="2000" dirty="0" err="1"/>
              <a:t>Ayub’s</a:t>
            </a:r>
            <a:r>
              <a:rPr sz="2000" dirty="0"/>
              <a:t> resignation and imposed martial law. </a:t>
            </a:r>
            <a:endParaRPr lang="en-US" sz="2000" dirty="0"/>
          </a:p>
          <a:p>
            <a:r>
              <a:rPr sz="2000" dirty="0"/>
              <a:t>He dissolved the 1962 Constitution and national assemblies, promising democratic restoration. </a:t>
            </a:r>
            <a:endParaRPr lang="en-US" sz="2000" dirty="0"/>
          </a:p>
          <a:p>
            <a:r>
              <a:rPr sz="2000" dirty="0"/>
              <a:t>Yahya abolished the One Unit system to reduce regional resentment and restored provincial boundaries. </a:t>
            </a:r>
            <a:endParaRPr lang="en-US" sz="2000" dirty="0"/>
          </a:p>
          <a:p>
            <a:r>
              <a:rPr sz="2000" dirty="0"/>
              <a:t>He announced general elections based on adult franchise, raising hopes for civilian rule. </a:t>
            </a:r>
            <a:endParaRPr lang="en-US" sz="2000" dirty="0"/>
          </a:p>
          <a:p>
            <a:r>
              <a:rPr sz="2000" dirty="0"/>
              <a:t>However, political polarization intensified, particularly between East and West Pakistan. </a:t>
            </a:r>
            <a:endParaRPr lang="en-US" sz="2000" dirty="0"/>
          </a:p>
          <a:p>
            <a:r>
              <a:rPr sz="2000" dirty="0"/>
              <a:t>The military remained deeply involved in political affairs, limiting genuine democratic transition.</a:t>
            </a:r>
          </a:p>
        </p:txBody>
      </p:sp>
      <p:pic>
        <p:nvPicPr>
          <p:cNvPr id="9220" name="Picture 4" descr="President Yahya Khan | Flickr">
            <a:extLst>
              <a:ext uri="{FF2B5EF4-FFF2-40B4-BE49-F238E27FC236}">
                <a16:creationId xmlns:a16="http://schemas.microsoft.com/office/drawing/2014/main" id="{E815C958-B65E-4625-9969-B79DFAAA2C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37" y="2508621"/>
            <a:ext cx="3900218" cy="36350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Legal Framework Order (1970)</a:t>
            </a:r>
          </a:p>
        </p:txBody>
      </p:sp>
      <p:sp>
        <p:nvSpPr>
          <p:cNvPr id="3" name="Content Placeholder 2"/>
          <p:cNvSpPr>
            <a:spLocks noGrp="1"/>
          </p:cNvSpPr>
          <p:nvPr>
            <p:ph idx="1"/>
          </p:nvPr>
        </p:nvSpPr>
        <p:spPr>
          <a:xfrm>
            <a:off x="0" y="2162175"/>
            <a:ext cx="5362575" cy="4695826"/>
          </a:xfrm>
        </p:spPr>
        <p:txBody>
          <a:bodyPr>
            <a:normAutofit/>
          </a:bodyPr>
          <a:lstStyle/>
          <a:p>
            <a:r>
              <a:rPr sz="2000" b="1" u="sng" dirty="0"/>
              <a:t>The Legal Framework Order </a:t>
            </a:r>
            <a:r>
              <a:rPr sz="2000" dirty="0"/>
              <a:t>outlined procedures for Pakistan’s first general elections and constitution-making. I</a:t>
            </a:r>
            <a:endParaRPr lang="en-US" sz="2000" dirty="0"/>
          </a:p>
          <a:p>
            <a:r>
              <a:rPr sz="2000" dirty="0"/>
              <a:t>t created a unicameral National Assembly tasked with drafting a new constitution.</a:t>
            </a:r>
            <a:endParaRPr lang="en-US" sz="2000" dirty="0"/>
          </a:p>
          <a:p>
            <a:r>
              <a:rPr sz="2000" dirty="0"/>
              <a:t> However, it imposed conditions preserving Pakistan’s unity, Islamic identity, and strong central authority. These restrictions conflicted with East Pakistan’s demand for autonomy. </a:t>
            </a:r>
            <a:endParaRPr lang="en-US" sz="2000" dirty="0"/>
          </a:p>
          <a:p>
            <a:r>
              <a:rPr sz="2000" dirty="0"/>
              <a:t>Although intended to guide democratic transition, the LFO created ambiguity and mistrust. It later contributed to political conflict when election results favored the </a:t>
            </a:r>
            <a:r>
              <a:rPr sz="2000" dirty="0" err="1"/>
              <a:t>Awami</a:t>
            </a:r>
            <a:r>
              <a:rPr sz="2000" dirty="0"/>
              <a:t> League overwhelmingly.</a:t>
            </a:r>
          </a:p>
        </p:txBody>
      </p:sp>
      <p:pic>
        <p:nvPicPr>
          <p:cNvPr id="2050" name="Picture 2" descr="Special report: Parliament in Chaos 1951-1958 - Pakistan - DAWN.COM">
            <a:extLst>
              <a:ext uri="{FF2B5EF4-FFF2-40B4-BE49-F238E27FC236}">
                <a16:creationId xmlns:a16="http://schemas.microsoft.com/office/drawing/2014/main" id="{E75DA03A-F324-4BD8-8818-C5E6326255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2575" y="2004365"/>
            <a:ext cx="3781425" cy="264699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Facade Of True Representation - Sp Supplements - DAWN.COM">
            <a:extLst>
              <a:ext uri="{FF2B5EF4-FFF2-40B4-BE49-F238E27FC236}">
                <a16:creationId xmlns:a16="http://schemas.microsoft.com/office/drawing/2014/main" id="{EEC597D9-61B8-41A2-961C-35E3B37D7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9107" y="4717738"/>
            <a:ext cx="3568361" cy="2073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General Elections of 1970</a:t>
            </a:r>
          </a:p>
        </p:txBody>
      </p:sp>
      <p:sp>
        <p:nvSpPr>
          <p:cNvPr id="3" name="Content Placeholder 2"/>
          <p:cNvSpPr>
            <a:spLocks noGrp="1"/>
          </p:cNvSpPr>
          <p:nvPr>
            <p:ph idx="1"/>
          </p:nvPr>
        </p:nvSpPr>
        <p:spPr>
          <a:xfrm>
            <a:off x="3733800" y="2006353"/>
            <a:ext cx="5410200" cy="4851647"/>
          </a:xfrm>
        </p:spPr>
        <p:txBody>
          <a:bodyPr>
            <a:noAutofit/>
          </a:bodyPr>
          <a:lstStyle/>
          <a:p>
            <a:r>
              <a:rPr sz="2000" dirty="0"/>
              <a:t>The 1970 elections were Pakistan’s first nationwide democratic elections based on universal adult suffrage. Voter participation was high, reflecting public enthusiasm for democracy. </a:t>
            </a:r>
            <a:endParaRPr lang="en-US" sz="2000" dirty="0"/>
          </a:p>
          <a:p>
            <a:r>
              <a:rPr sz="2000" dirty="0"/>
              <a:t>The </a:t>
            </a:r>
            <a:r>
              <a:rPr sz="2000" dirty="0" err="1"/>
              <a:t>Awami</a:t>
            </a:r>
            <a:r>
              <a:rPr sz="2000" dirty="0"/>
              <a:t> League won a majority in the National Assembly by sweeping East Pakistan. </a:t>
            </a:r>
            <a:endParaRPr lang="en-US" sz="2000" dirty="0"/>
          </a:p>
          <a:p>
            <a:r>
              <a:rPr sz="2000" dirty="0"/>
              <a:t>The Pakistan People’s Party dominated West Pakistan. </a:t>
            </a:r>
            <a:endParaRPr lang="en-US" sz="2000" dirty="0"/>
          </a:p>
          <a:p>
            <a:r>
              <a:rPr sz="2000" dirty="0"/>
              <a:t>The results clearly represented regional political preferences. Constitutionally, Sheikh Mujibur Rahman had the right to form government. However, political rivalry and military hesitation prevented peaceful power transfer.</a:t>
            </a:r>
          </a:p>
        </p:txBody>
      </p:sp>
      <p:pic>
        <p:nvPicPr>
          <p:cNvPr id="3074" name="Picture 2" descr="When Pakistan's army lost an election | The Asian Age Online, Bangladesh">
            <a:extLst>
              <a:ext uri="{FF2B5EF4-FFF2-40B4-BE49-F238E27FC236}">
                <a16:creationId xmlns:a16="http://schemas.microsoft.com/office/drawing/2014/main" id="{871141D0-041B-4433-B3E5-B7E68F114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309" y="2006353"/>
            <a:ext cx="3213716" cy="43837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F434FD5-4012-49A4-9C6D-4F15C89357EC}"/>
              </a:ext>
            </a:extLst>
          </p:cNvPr>
          <p:cNvSpPr txBox="1"/>
          <p:nvPr/>
        </p:nvSpPr>
        <p:spPr>
          <a:xfrm>
            <a:off x="195309" y="6377598"/>
            <a:ext cx="3213716" cy="338554"/>
          </a:xfrm>
          <a:prstGeom prst="rect">
            <a:avLst/>
          </a:prstGeom>
          <a:noFill/>
        </p:spPr>
        <p:txBody>
          <a:bodyPr wrap="square">
            <a:spAutoFit/>
          </a:bodyPr>
          <a:lstStyle/>
          <a:p>
            <a:pPr algn="ctr"/>
            <a:r>
              <a:rPr lang="en-US" sz="1600" b="1" dirty="0"/>
              <a:t>Sheikh Mujeeb Ur Rehman (AL)</a:t>
            </a:r>
            <a:endParaRPr lang="en-PK" sz="16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Post-Election Political Deadlock</a:t>
            </a:r>
          </a:p>
        </p:txBody>
      </p:sp>
      <p:sp>
        <p:nvSpPr>
          <p:cNvPr id="3" name="Content Placeholder 2"/>
          <p:cNvSpPr>
            <a:spLocks noGrp="1"/>
          </p:cNvSpPr>
          <p:nvPr>
            <p:ph idx="1"/>
          </p:nvPr>
        </p:nvSpPr>
        <p:spPr>
          <a:xfrm>
            <a:off x="2" y="2003498"/>
            <a:ext cx="4927108" cy="4854502"/>
          </a:xfrm>
        </p:spPr>
        <p:txBody>
          <a:bodyPr>
            <a:normAutofit lnSpcReduction="10000"/>
          </a:bodyPr>
          <a:lstStyle/>
          <a:p>
            <a:r>
              <a:rPr sz="2000" dirty="0"/>
              <a:t>After the elections, Bhutto refused to accept </a:t>
            </a:r>
            <a:r>
              <a:rPr sz="2000" dirty="0" err="1"/>
              <a:t>Awami</a:t>
            </a:r>
            <a:r>
              <a:rPr sz="2000" dirty="0"/>
              <a:t> League’s exclusive authority and demanded a power-sharing arrangement. </a:t>
            </a:r>
            <a:endParaRPr lang="en-US" sz="2000" dirty="0"/>
          </a:p>
          <a:p>
            <a:r>
              <a:rPr sz="2000" dirty="0"/>
              <a:t>The military feared Mujib’s Six Point Program would weaken central control. </a:t>
            </a:r>
            <a:endParaRPr lang="en-US" sz="2000" dirty="0"/>
          </a:p>
          <a:p>
            <a:r>
              <a:rPr sz="2000" dirty="0"/>
              <a:t>Negotiations among Yahya Khan, Mujib, and Bhutto repeatedly failed. The postponement of the National Assembly session triggered massive protests in East Pakistan.</a:t>
            </a:r>
            <a:endParaRPr lang="en-US" sz="2000" dirty="0"/>
          </a:p>
          <a:p>
            <a:r>
              <a:rPr sz="2000" dirty="0"/>
              <a:t>Civil disobedience paralyzed administration. The deadlock revealed leadership failure and inability to respect democratic outcomes, pushing the country toward violent confrontation.</a:t>
            </a:r>
          </a:p>
        </p:txBody>
      </p:sp>
      <p:pic>
        <p:nvPicPr>
          <p:cNvPr id="1026" name="Picture 2" descr="zulfiqaralibhutto Photos via Dawn Archive/White Star Credits / Via  #DawnToday">
            <a:extLst>
              <a:ext uri="{FF2B5EF4-FFF2-40B4-BE49-F238E27FC236}">
                <a16:creationId xmlns:a16="http://schemas.microsoft.com/office/drawing/2014/main" id="{9B84348C-D0E4-4F0C-8C63-5CD515EB1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7109" y="2287623"/>
            <a:ext cx="4115813" cy="42640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Military Operation in East Pakistan</a:t>
            </a:r>
          </a:p>
        </p:txBody>
      </p:sp>
      <p:sp>
        <p:nvSpPr>
          <p:cNvPr id="3" name="Content Placeholder 2"/>
          <p:cNvSpPr>
            <a:spLocks noGrp="1"/>
          </p:cNvSpPr>
          <p:nvPr>
            <p:ph idx="1"/>
          </p:nvPr>
        </p:nvSpPr>
        <p:spPr>
          <a:xfrm>
            <a:off x="3752850" y="2000250"/>
            <a:ext cx="5391150" cy="4857750"/>
          </a:xfrm>
        </p:spPr>
        <p:txBody>
          <a:bodyPr>
            <a:normAutofit/>
          </a:bodyPr>
          <a:lstStyle/>
          <a:p>
            <a:r>
              <a:rPr sz="2000" dirty="0"/>
              <a:t>In March 1971, the army launched Operation Searchlight to suppress Bengali resistance. </a:t>
            </a:r>
            <a:endParaRPr lang="en-US" sz="2000" dirty="0"/>
          </a:p>
          <a:p>
            <a:r>
              <a:rPr sz="2000" dirty="0"/>
              <a:t>Universities, political leaders, and civilian neighborhoods were targeted. Thousands were killed, and widespread human rights abuses occurred. </a:t>
            </a:r>
            <a:endParaRPr lang="en-US" sz="2000" dirty="0"/>
          </a:p>
          <a:p>
            <a:r>
              <a:rPr sz="2000" dirty="0"/>
              <a:t>Rather than restoring order, the operation intensified nationalist resistance. Millions of refugees fled to India, creating a humanitarian crisis. </a:t>
            </a:r>
            <a:endParaRPr lang="en-US" sz="2000" dirty="0"/>
          </a:p>
          <a:p>
            <a:r>
              <a:rPr sz="2000" dirty="0"/>
              <a:t>The conflict evolved into a liberation war led by the Mukti </a:t>
            </a:r>
            <a:r>
              <a:rPr sz="2000" dirty="0" err="1"/>
              <a:t>Bahini</a:t>
            </a:r>
            <a:r>
              <a:rPr sz="2000" dirty="0"/>
              <a:t>. Military force replaced political dialogue, making separation increasingly inevitable.</a:t>
            </a:r>
          </a:p>
        </p:txBody>
      </p:sp>
      <p:pic>
        <p:nvPicPr>
          <p:cNvPr id="5122" name="Picture 2" descr="‘Bangladesh’s popular and historical narrative refuses to take a long view of Bengali identity and contributions made by the Pakistani government’: Refugees seeking shelter in 1971 | Courtesy the official mujibnagar website">
            <a:extLst>
              <a:ext uri="{FF2B5EF4-FFF2-40B4-BE49-F238E27FC236}">
                <a16:creationId xmlns:a16="http://schemas.microsoft.com/office/drawing/2014/main" id="{62BBDED2-1452-4CC7-97CA-5D5481D72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78" y="4591977"/>
            <a:ext cx="3576960" cy="21461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he founder of Bangladesh was not always the separatist and nationalist he was projected to be’: Supporters cheering ‘Banglabandhu’ Sheikh Mujeebur Rahman at the liberation| Courtesy official Mujibnagar website">
            <a:extLst>
              <a:ext uri="{FF2B5EF4-FFF2-40B4-BE49-F238E27FC236}">
                <a16:creationId xmlns:a16="http://schemas.microsoft.com/office/drawing/2014/main" id="{F7855826-4618-4619-A5B7-558E2B889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78" y="2266024"/>
            <a:ext cx="3576960" cy="2146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Fall of Dhaka – December 1971</a:t>
            </a:r>
          </a:p>
        </p:txBody>
      </p:sp>
      <p:sp>
        <p:nvSpPr>
          <p:cNvPr id="3" name="Content Placeholder 2"/>
          <p:cNvSpPr>
            <a:spLocks noGrp="1"/>
          </p:cNvSpPr>
          <p:nvPr>
            <p:ph idx="1"/>
          </p:nvPr>
        </p:nvSpPr>
        <p:spPr>
          <a:xfrm>
            <a:off x="0" y="2013022"/>
            <a:ext cx="4943475" cy="4844977"/>
          </a:xfrm>
        </p:spPr>
        <p:txBody>
          <a:bodyPr>
            <a:normAutofit lnSpcReduction="10000"/>
          </a:bodyPr>
          <a:lstStyle/>
          <a:p>
            <a:r>
              <a:rPr dirty="0"/>
              <a:t>India intervened militarily in December 1971, supporting Bengali forces. Pakistani troops in </a:t>
            </a:r>
            <a:r>
              <a:rPr sz="2800" dirty="0"/>
              <a:t>East</a:t>
            </a:r>
            <a:r>
              <a:rPr dirty="0"/>
              <a:t> Pakistan were isolated and outnumbered. After intense fighting, the army surrendered in Dhaka on December 16, 1971. Approximately 93,000 soldiers became prisoners of war. This marked the creation of Bangladesh as an independent state. It was Pakistan’s greatest military defeat and a severe blow to national unity, morale, and international reputation.</a:t>
            </a:r>
          </a:p>
        </p:txBody>
      </p:sp>
      <p:pic>
        <p:nvPicPr>
          <p:cNvPr id="6146" name="Picture 2" descr="‘There is no doubt that the events of 1971 will always remain the most important time as far as Bangladeshi history is concerned’: A unit of Mukti Bahini celebrate liberation as Indian tanks roll in | Courtesy official Mujibnagar website">
            <a:extLst>
              <a:ext uri="{FF2B5EF4-FFF2-40B4-BE49-F238E27FC236}">
                <a16:creationId xmlns:a16="http://schemas.microsoft.com/office/drawing/2014/main" id="{9477D19D-9DE7-4153-B2FA-DD661663D4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3475" y="4317659"/>
            <a:ext cx="4182118" cy="250927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Bangladeshis were shocked during Modi’s recent visit to Dhaka when the Bangladeshi government granted India approval for a transit route through the country’: Indian General Jagjit Singh Arora and General A A K Niazi aka ‘Tiger’, are pictured here, a few moments before the historic surrender in 1971 | Courtesy official Mujibnagar website">
            <a:extLst>
              <a:ext uri="{FF2B5EF4-FFF2-40B4-BE49-F238E27FC236}">
                <a16:creationId xmlns:a16="http://schemas.microsoft.com/office/drawing/2014/main" id="{4646345E-1D40-4037-A0F5-E419C9767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476" y="2013022"/>
            <a:ext cx="4182118" cy="22735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Causes of Pakistan’s Breakup</a:t>
            </a:r>
          </a:p>
        </p:txBody>
      </p:sp>
      <p:sp>
        <p:nvSpPr>
          <p:cNvPr id="3" name="Content Placeholder 2"/>
          <p:cNvSpPr>
            <a:spLocks noGrp="1"/>
          </p:cNvSpPr>
          <p:nvPr>
            <p:ph idx="1"/>
          </p:nvPr>
        </p:nvSpPr>
        <p:spPr>
          <a:xfrm>
            <a:off x="4200525" y="2013022"/>
            <a:ext cx="4943475" cy="4844977"/>
          </a:xfrm>
        </p:spPr>
        <p:txBody>
          <a:bodyPr>
            <a:normAutofit/>
          </a:bodyPr>
          <a:lstStyle/>
          <a:p>
            <a:r>
              <a:rPr sz="2000" dirty="0"/>
              <a:t>The disintegration of Pakistan resulted from long-term structural problems. Political authoritarianism suppressed democracy for decades. Economic inequalities created regional resentment. Failure to accommodate autonomy demands weakened national unity. Military dominance undermined civilian institutions. Refusal to honor election results destroyed constitutional legitimacy. Cultural and linguistic discrimination further alienated Bengalis. Combined, these factors made unity unsustainable. The 1971 crisis was not sudden but the outcome of persistent governance failures.</a:t>
            </a:r>
          </a:p>
        </p:txBody>
      </p:sp>
      <p:pic>
        <p:nvPicPr>
          <p:cNvPr id="7170" name="Picture 2" descr="Separation of East Pakistan – Jahangir's World Times">
            <a:extLst>
              <a:ext uri="{FF2B5EF4-FFF2-40B4-BE49-F238E27FC236}">
                <a16:creationId xmlns:a16="http://schemas.microsoft.com/office/drawing/2014/main" id="{29367AFC-C0C5-4427-971A-BCE85CC72C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4" r="12268"/>
          <a:stretch/>
        </p:blipFill>
        <p:spPr bwMode="auto">
          <a:xfrm>
            <a:off x="1012388" y="4372437"/>
            <a:ext cx="3399813" cy="248556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Regional Nationalism: The driving force for the secession of East Pakistan  | Pakistan Today">
            <a:extLst>
              <a:ext uri="{FF2B5EF4-FFF2-40B4-BE49-F238E27FC236}">
                <a16:creationId xmlns:a16="http://schemas.microsoft.com/office/drawing/2014/main" id="{28D2A03E-6AE2-4E25-A2DE-7A4D2D83C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09" y="2033541"/>
            <a:ext cx="3399813" cy="22448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Conclusion and Historical Lessons</a:t>
            </a:r>
          </a:p>
        </p:txBody>
      </p:sp>
      <p:sp>
        <p:nvSpPr>
          <p:cNvPr id="3" name="Content Placeholder 2"/>
          <p:cNvSpPr>
            <a:spLocks noGrp="1"/>
          </p:cNvSpPr>
          <p:nvPr>
            <p:ph idx="1"/>
          </p:nvPr>
        </p:nvSpPr>
        <p:spPr>
          <a:xfrm>
            <a:off x="0" y="2154914"/>
            <a:ext cx="5139985" cy="4352925"/>
          </a:xfrm>
        </p:spPr>
        <p:txBody>
          <a:bodyPr>
            <a:normAutofit fontScale="85000" lnSpcReduction="10000"/>
          </a:bodyPr>
          <a:lstStyle/>
          <a:p>
            <a:r>
              <a:rPr dirty="0"/>
              <a:t>The era from </a:t>
            </a:r>
            <a:r>
              <a:rPr dirty="0" err="1"/>
              <a:t>Ayub</a:t>
            </a:r>
            <a:r>
              <a:rPr dirty="0"/>
              <a:t> Khan to Yahya Khan demonstrates the dangers of authoritarian rule, economic injustice, and political exclusion. Development without equity breeds instability. Suppressing democratic processes leads to </a:t>
            </a:r>
            <a:r>
              <a:rPr sz="2800" dirty="0"/>
              <a:t>alienation</a:t>
            </a:r>
            <a:r>
              <a:rPr dirty="0"/>
              <a:t> and conflict. Respect for electoral mandates and regional diversity is essential for national unity. Pakistan’s dismemberment remains a critical lesson in constitutionalism, civilian supremacy, and inclusive governance. Understanding this period helps students analyze contemporary political challenges and the importance of democracy in state stability.</a:t>
            </a:r>
          </a:p>
        </p:txBody>
      </p:sp>
      <p:pic>
        <p:nvPicPr>
          <p:cNvPr id="8194" name="Picture 2" descr="Pakistan's Centralised Power And Historical Crises: Lessons From 1971 To  Today">
            <a:extLst>
              <a:ext uri="{FF2B5EF4-FFF2-40B4-BE49-F238E27FC236}">
                <a16:creationId xmlns:a16="http://schemas.microsoft.com/office/drawing/2014/main" id="{54AC8F77-AC0D-44A8-AF8D-4B32C9A12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759" y="2808106"/>
            <a:ext cx="4119241" cy="25895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967</TotalTime>
  <Words>1957</Words>
  <Application>Microsoft Office PowerPoint</Application>
  <PresentationFormat>On-screen Show (4:3)</PresentationFormat>
  <Paragraphs>93</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Trebuchet MS</vt:lpstr>
      <vt:lpstr>Berlin</vt:lpstr>
      <vt:lpstr>PAKISTAN HISTORICAL TRAJECTORY</vt:lpstr>
      <vt:lpstr>Pakistan’s Historical Trajectory (1958–1971)</vt:lpstr>
      <vt:lpstr>Background to Ayub Khan’s Coup (1958)</vt:lpstr>
      <vt:lpstr>Ayub Khan’s Governance Philosophy</vt:lpstr>
      <vt:lpstr>Basic Democracies System (1959)</vt:lpstr>
      <vt:lpstr>Political Impact of Basic Democracies</vt:lpstr>
      <vt:lpstr>The Constitution of 1962 – Main Features</vt:lpstr>
      <vt:lpstr>Effects on Democratic Development</vt:lpstr>
      <vt:lpstr>The Decade of Development – Economic Strategy</vt:lpstr>
      <vt:lpstr>Industrial Expansion and Wealth Concentration</vt:lpstr>
      <vt:lpstr>Agricultural Reforms and Rural Outcomes</vt:lpstr>
      <vt:lpstr>Regional Economic Disparities</vt:lpstr>
      <vt:lpstr>Opposition Movements Against Ayub Khan</vt:lpstr>
      <vt:lpstr>Yahya Khan’s Takeover (1969)</vt:lpstr>
      <vt:lpstr>Legal Framework Order (1970)</vt:lpstr>
      <vt:lpstr>General Elections of 1970</vt:lpstr>
      <vt:lpstr>Post-Election Political Deadlock</vt:lpstr>
      <vt:lpstr>Military Operation in East Pakistan</vt:lpstr>
      <vt:lpstr>Fall of Dhaka – December 1971</vt:lpstr>
      <vt:lpstr>Causes of Pakistan’s Breakup</vt:lpstr>
      <vt:lpstr>Conclusion and Historical Lessons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Pakistan’s Historical Trajectory (1958–1971)</dc:title>
  <dc:subject/>
  <dc:creator/>
  <cp:keywords/>
  <dc:description>generated using python-pptx</dc:description>
  <cp:lastModifiedBy>pc1</cp:lastModifiedBy>
  <cp:revision>65</cp:revision>
  <dcterms:created xsi:type="dcterms:W3CDTF">2013-01-27T09:14:16Z</dcterms:created>
  <dcterms:modified xsi:type="dcterms:W3CDTF">2026-01-27T07:16:22Z</dcterms:modified>
  <cp:category/>
</cp:coreProperties>
</file>