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7" d="100"/>
          <a:sy n="67" d="100"/>
        </p:scale>
        <p:origin x="139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069268" cy="1373070"/>
          </a:xfrm>
        </p:spPr>
        <p:txBody>
          <a:bodyPr anchor="b">
            <a:noAutofit/>
          </a:bodyPr>
          <a:lstStyle>
            <a:lvl1pPr algn="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4555655" y="5936188"/>
            <a:ext cx="2057400" cy="365125"/>
          </a:xfrm>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a:xfrm>
            <a:off x="533401" y="5936189"/>
            <a:ext cx="4021666" cy="365125"/>
          </a:xfrm>
        </p:spPr>
        <p:txBody>
          <a:bodyPr/>
          <a:lstStyle/>
          <a:p>
            <a:endParaRPr lang="en-US"/>
          </a:p>
        </p:txBody>
      </p:sp>
      <p:sp>
        <p:nvSpPr>
          <p:cNvPr id="6" name="Slide Number Placeholder 5"/>
          <p:cNvSpPr>
            <a:spLocks noGrp="1"/>
          </p:cNvSpPr>
          <p:nvPr>
            <p:ph type="sldNum" sz="quarter" idx="12"/>
          </p:nvPr>
        </p:nvSpPr>
        <p:spPr>
          <a:xfrm>
            <a:off x="7010399" y="2750337"/>
            <a:ext cx="1370293" cy="135644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68276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7" name="Group 26"/>
          <p:cNvGrpSpPr/>
          <p:nvPr/>
        </p:nvGrpSpPr>
        <p:grpSpPr>
          <a:xfrm>
            <a:off x="0" y="609600"/>
            <a:ext cx="916196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3778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p:cNvGrpSpPr/>
          <p:nvPr/>
        </p:nvGrpSpPr>
        <p:grpSpPr>
          <a:xfrm>
            <a:off x="0" y="2728432"/>
            <a:ext cx="9161969" cy="1677035"/>
            <a:chOff x="0" y="2895600"/>
            <a:chExt cx="9161969" cy="1677035"/>
          </a:xfrm>
        </p:grpSpPr>
        <p:pic>
          <p:nvPicPr>
            <p:cNvPr id="19" name="Picture 1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0" name="Picture 1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1" name="Rectangle 2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2869895"/>
            <a:ext cx="6889150" cy="1090788"/>
          </a:xfrm>
        </p:spPr>
        <p:txBody>
          <a:bodyPr anchor="ctr">
            <a:normAutofit/>
          </a:bodyPr>
          <a:lstStyle>
            <a:lvl1pPr algn="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531639" y="4232172"/>
            <a:ext cx="688915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5365810" y="5936188"/>
            <a:ext cx="2057400" cy="365125"/>
          </a:xfrm>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a:xfrm>
            <a:off x="533400" y="5936189"/>
            <a:ext cx="4834673" cy="365125"/>
          </a:xfrm>
        </p:spPr>
        <p:txBody>
          <a:bodyPr/>
          <a:lstStyle/>
          <a:p>
            <a:endParaRPr lang="en-US"/>
          </a:p>
        </p:txBody>
      </p:sp>
      <p:sp>
        <p:nvSpPr>
          <p:cNvPr id="6" name="Slide Number Placeholder 5"/>
          <p:cNvSpPr>
            <a:spLocks noGrp="1"/>
          </p:cNvSpPr>
          <p:nvPr>
            <p:ph type="sldNum" sz="quarter" idx="12"/>
          </p:nvPr>
        </p:nvSpPr>
        <p:spPr>
          <a:xfrm>
            <a:off x="7856438" y="286989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20521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0" y="753228"/>
            <a:ext cx="6887390" cy="1080938"/>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33400" y="2336873"/>
            <a:ext cx="3357899" cy="35993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061128" y="2336873"/>
            <a:ext cx="3359661" cy="35993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7360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28" name="Group 27"/>
          <p:cNvGrpSpPr/>
          <p:nvPr/>
        </p:nvGrpSpPr>
        <p:grpSpPr>
          <a:xfrm>
            <a:off x="0" y="609600"/>
            <a:ext cx="9161969" cy="1677035"/>
            <a:chOff x="0" y="2895600"/>
            <a:chExt cx="9161969" cy="1677035"/>
          </a:xfrm>
        </p:grpSpPr>
        <p:pic>
          <p:nvPicPr>
            <p:cNvPr id="29" name="Picture 2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0" name="Picture 2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1" name="Rectangle 3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30"/>
            <a:ext cx="6896534" cy="108093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760988" y="2336874"/>
            <a:ext cx="3145080"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638" y="3030009"/>
            <a:ext cx="3367045" cy="290617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282646" y="2336873"/>
            <a:ext cx="3145527"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061129" y="3030009"/>
            <a:ext cx="3367044" cy="290617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9458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0" y="609600"/>
            <a:ext cx="9161969" cy="1677035"/>
            <a:chOff x="0" y="2895600"/>
            <a:chExt cx="9161969" cy="1677035"/>
          </a:xfrm>
        </p:grpSpPr>
        <p:pic>
          <p:nvPicPr>
            <p:cNvPr id="16" name="Picture 15"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7" name="Picture 16"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8" name="Rectangle 17"/>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99305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2" name="Picture 11" descr="HD-ShadowShort.png"/>
          <p:cNvPicPr>
            <a:picLocks noChangeAspect="1"/>
          </p:cNvPicPr>
          <p:nvPr/>
        </p:nvPicPr>
        <p:blipFill rotWithShape="1">
          <a:blip r:embed="rId2">
            <a:extLst>
              <a:ext uri="{28A0092B-C50C-407E-A947-70E740481C1C}">
                <a14:useLocalDpi xmlns:a14="http://schemas.microsoft.com/office/drawing/2010/main" val="0"/>
              </a:ext>
            </a:extLst>
          </a:blip>
          <a:srcRect r="9871"/>
          <a:stretch/>
        </p:blipFill>
        <p:spPr>
          <a:xfrm>
            <a:off x="7717217" y="1973262"/>
            <a:ext cx="1444752" cy="144270"/>
          </a:xfrm>
          <a:prstGeom prst="rect">
            <a:avLst/>
          </a:prstGeom>
        </p:spPr>
      </p:pic>
      <p:sp>
        <p:nvSpPr>
          <p:cNvPr id="14" name="Rectangle 13"/>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64641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7"/>
            <a:ext cx="6896534" cy="1080940"/>
          </a:xfrm>
        </p:spPr>
        <p:txBody>
          <a:bodyPr anchor="ct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3514385" y="2336874"/>
            <a:ext cx="3913788" cy="35993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33401" y="2336873"/>
            <a:ext cx="2796240"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9011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nchor="ctr">
            <a:normAutofit/>
          </a:bodyPr>
          <a:lstStyle>
            <a:lvl1pPr>
              <a:defRPr sz="36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510956" y="2336874"/>
            <a:ext cx="3917217"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531638" y="2336874"/>
            <a:ext cx="2798487"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08815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20" name="Group 19"/>
          <p:cNvGrpSpPr/>
          <p:nvPr/>
        </p:nvGrpSpPr>
        <p:grpSpPr>
          <a:xfrm>
            <a:off x="0" y="45720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3" y="4711617"/>
            <a:ext cx="6894770" cy="544482"/>
          </a:xfrm>
        </p:spPr>
        <p:txBody>
          <a:bodyPr anchor="b">
            <a:normAutofit/>
          </a:bodyPr>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31639" y="609598"/>
            <a:ext cx="6896534"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533401" y="5256098"/>
            <a:ext cx="6894772" cy="5478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310"/>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6088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21" name="Group 20"/>
          <p:cNvGrpSpPr/>
          <p:nvPr/>
        </p:nvGrpSpPr>
        <p:grpSpPr>
          <a:xfrm>
            <a:off x="0" y="4572000"/>
            <a:ext cx="9161969" cy="1677035"/>
            <a:chOff x="0" y="2895600"/>
            <a:chExt cx="9161969" cy="1677035"/>
          </a:xfrm>
        </p:grpSpPr>
        <p:pic>
          <p:nvPicPr>
            <p:cNvPr id="22" name="Picture 21"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3" name="Picture 22"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4" name="Rectangle 23"/>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24255" y="609597"/>
            <a:ext cx="6896534" cy="3592750"/>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531638" y="4710340"/>
            <a:ext cx="6889151" cy="1101764"/>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61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4112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29" name="Group 28"/>
          <p:cNvGrpSpPr/>
          <p:nvPr/>
        </p:nvGrpSpPr>
        <p:grpSpPr>
          <a:xfrm>
            <a:off x="0" y="4572000"/>
            <a:ext cx="9161969" cy="1677035"/>
            <a:chOff x="0" y="2895600"/>
            <a:chExt cx="9161969" cy="1677035"/>
          </a:xfrm>
        </p:grpSpPr>
        <p:pic>
          <p:nvPicPr>
            <p:cNvPr id="30" name="Picture 29"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1" name="Picture 30"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2" name="Rectangle 31"/>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67921" y="616983"/>
            <a:ext cx="6425147" cy="3036061"/>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989438" y="3660763"/>
            <a:ext cx="5987731"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531638" y="4710340"/>
            <a:ext cx="6903919" cy="1101764"/>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C1FF6DA9-008F-8B48-92A6-B652298478BF}" type="slidenum">
              <a:rPr lang="en-US" smtClean="0"/>
              <a:t>‹#›</a:t>
            </a:fld>
            <a:endParaRPr lang="en-US"/>
          </a:p>
        </p:txBody>
      </p:sp>
      <p:sp>
        <p:nvSpPr>
          <p:cNvPr id="27" name="TextBox 26"/>
          <p:cNvSpPr txBox="1"/>
          <p:nvPr/>
        </p:nvSpPr>
        <p:spPr>
          <a:xfrm>
            <a:off x="270932" y="748116"/>
            <a:ext cx="5334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28" name="TextBox 27"/>
          <p:cNvSpPr txBox="1"/>
          <p:nvPr/>
        </p:nvSpPr>
        <p:spPr>
          <a:xfrm>
            <a:off x="6967191" y="2998573"/>
            <a:ext cx="457200" cy="584777"/>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241072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22" name="Group 21"/>
          <p:cNvGrpSpPr/>
          <p:nvPr/>
        </p:nvGrpSpPr>
        <p:grpSpPr>
          <a:xfrm>
            <a:off x="0" y="4572000"/>
            <a:ext cx="9161969" cy="1677035"/>
            <a:chOff x="0" y="2895600"/>
            <a:chExt cx="9161969" cy="1677035"/>
          </a:xfrm>
        </p:grpSpPr>
        <p:pic>
          <p:nvPicPr>
            <p:cNvPr id="23" name="Picture 22"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4" name="Picture 23"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5" name="Rectangle 24"/>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8" y="4710340"/>
            <a:ext cx="6896534" cy="589812"/>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531639" y="5300150"/>
            <a:ext cx="6896534" cy="51195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925706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p:cNvGrpSpPr/>
          <p:nvPr/>
        </p:nvGrpSpPr>
        <p:grpSpPr>
          <a:xfrm>
            <a:off x="0" y="6096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15" name="Title 1"/>
          <p:cNvSpPr>
            <a:spLocks noGrp="1"/>
          </p:cNvSpPr>
          <p:nvPr>
            <p:ph type="title"/>
          </p:nvPr>
        </p:nvSpPr>
        <p:spPr>
          <a:xfrm>
            <a:off x="531639" y="753228"/>
            <a:ext cx="6896534" cy="1080938"/>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532629" y="2329489"/>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539777" y="3015290"/>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2878413"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2879710" y="3007906"/>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5226136"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5233520" y="3007905"/>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4242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grpSp>
        <p:nvGrpSpPr>
          <p:cNvPr id="34" name="Group 33"/>
          <p:cNvGrpSpPr/>
          <p:nvPr/>
        </p:nvGrpSpPr>
        <p:grpSpPr>
          <a:xfrm>
            <a:off x="0" y="609600"/>
            <a:ext cx="9161969" cy="1677035"/>
            <a:chOff x="0" y="2895600"/>
            <a:chExt cx="9161969" cy="1677035"/>
          </a:xfrm>
        </p:grpSpPr>
        <p:pic>
          <p:nvPicPr>
            <p:cNvPr id="35" name="Picture 34"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6" name="Picture 35"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7" name="Rectangle 36"/>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0" name="Title 1"/>
          <p:cNvSpPr>
            <a:spLocks noGrp="1"/>
          </p:cNvSpPr>
          <p:nvPr>
            <p:ph type="title"/>
          </p:nvPr>
        </p:nvSpPr>
        <p:spPr>
          <a:xfrm>
            <a:off x="531639" y="753228"/>
            <a:ext cx="6896534" cy="1080938"/>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532391" y="4297503"/>
            <a:ext cx="2192257"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532391" y="2336873"/>
            <a:ext cx="2192257"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532391" y="4873765"/>
            <a:ext cx="219225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2870497" y="4297503"/>
            <a:ext cx="221507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2870497" y="2336873"/>
            <a:ext cx="221507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2869483" y="4873764"/>
            <a:ext cx="2218004"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5231028" y="4297503"/>
            <a:ext cx="2194333"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5231027" y="2336873"/>
            <a:ext cx="219433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230934" y="4873762"/>
            <a:ext cx="2197239"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37118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6" name="Group 15"/>
          <p:cNvGrpSpPr/>
          <p:nvPr/>
        </p:nvGrpSpPr>
        <p:grpSpPr>
          <a:xfrm>
            <a:off x="0" y="609600"/>
            <a:ext cx="9161969" cy="1677035"/>
            <a:chOff x="0" y="2895600"/>
            <a:chExt cx="9161969" cy="1677035"/>
          </a:xfrm>
        </p:grpSpPr>
        <p:pic>
          <p:nvPicPr>
            <p:cNvPr id="17" name="Picture 16"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8" name="Picture 17"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9" name="Rectangle 18"/>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lstStyle>
            <a:lvl1pPr algn="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0138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4" name="Group 13"/>
          <p:cNvGrpSpPr/>
          <p:nvPr/>
        </p:nvGrpSpPr>
        <p:grpSpPr>
          <a:xfrm rot="5400000">
            <a:off x="4575305" y="2747178"/>
            <a:ext cx="6862555" cy="1368199"/>
            <a:chOff x="2281445" y="609600"/>
            <a:chExt cx="6862555" cy="1368199"/>
          </a:xfrm>
        </p:grpSpPr>
        <p:sp>
          <p:nvSpPr>
            <p:cNvPr id="12" name="Rectangle 11"/>
            <p:cNvSpPr/>
            <p:nvPr/>
          </p:nvSpPr>
          <p:spPr bwMode="ltGray">
            <a:xfrm>
              <a:off x="2281445" y="609601"/>
              <a:ext cx="528569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464798" y="609597"/>
            <a:ext cx="1069602" cy="4461936"/>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10241" y="609598"/>
            <a:ext cx="6576359" cy="532658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5029144" y="5936188"/>
            <a:ext cx="2057400" cy="365125"/>
          </a:xfrm>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a:xfrm>
            <a:off x="510241" y="5936189"/>
            <a:ext cx="4518959" cy="365125"/>
          </a:xfrm>
        </p:spPr>
        <p:txBody>
          <a:bodyPr/>
          <a:lstStyle/>
          <a:p>
            <a:endParaRPr lang="en-US"/>
          </a:p>
        </p:txBody>
      </p:sp>
      <p:sp>
        <p:nvSpPr>
          <p:cNvPr id="6" name="Slide Number Placeholder 5"/>
          <p:cNvSpPr>
            <a:spLocks noGrp="1"/>
          </p:cNvSpPr>
          <p:nvPr>
            <p:ph type="sldNum" sz="quarter" idx="12"/>
          </p:nvPr>
        </p:nvSpPr>
        <p:spPr>
          <a:xfrm>
            <a:off x="7431152" y="5432500"/>
            <a:ext cx="1149636" cy="1273100"/>
          </a:xfrm>
        </p:spPr>
        <p:txBody>
          <a:bodyPr anchor="t"/>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573063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7" name="Picture 3" descr="C:\Users\James\Desktop\msft\Berlin\build Assets\hashOverlaySD-FullResolve.png"/>
          <p:cNvPicPr>
            <a:picLocks noChangeAspect="1" noChangeArrowheads="1"/>
          </p:cNvPicPr>
          <p:nvPr/>
        </p:nvPicPr>
        <p:blipFill>
          <a:blip r:embed="rId19">
            <a:alphaModFix amt="10000"/>
            <a:extLst>
              <a:ext uri="{28A0092B-C50C-407E-A947-70E740481C1C}">
                <a14:useLocalDpi xmlns:a14="http://schemas.microsoft.com/office/drawing/2010/main" val="0"/>
              </a:ext>
            </a:extLst>
          </a:blip>
          <a:srcRect/>
          <a:stretch>
            <a:fillRect/>
          </a:stretch>
        </p:blipFill>
        <p:spPr bwMode="auto">
          <a:xfrm>
            <a:off x="0" y="1"/>
            <a:ext cx="9144000" cy="6858000"/>
          </a:xfrm>
          <a:prstGeom prst="rect">
            <a:avLst/>
          </a:prstGeom>
          <a:extLst>
            <a:ext uri="{909E8E84-426E-40dd-AFC4-6F175D3DCCD1}">
              <a14:hiddenFill xmlns:a14="http://schemas.microsoft.com/office/drawing/2010/main" xmlns="">
                <a:solidFill>
                  <a:srgbClr val="FFFFFF"/>
                </a:solidFill>
              </a14:hiddenFill>
            </a:ext>
          </a:extLst>
        </p:spPr>
      </p:pic>
      <p:sp>
        <p:nvSpPr>
          <p:cNvPr id="2" name="Title Placeholder 1"/>
          <p:cNvSpPr>
            <a:spLocks noGrp="1"/>
          </p:cNvSpPr>
          <p:nvPr>
            <p:ph type="title"/>
          </p:nvPr>
        </p:nvSpPr>
        <p:spPr>
          <a:xfrm>
            <a:off x="531639" y="753228"/>
            <a:ext cx="6896534" cy="108093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33400" y="2336873"/>
            <a:ext cx="6887389" cy="359931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367881" y="5936188"/>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2/16/2026</a:t>
            </a:fld>
            <a:endParaRPr lang="en-US"/>
          </a:p>
        </p:txBody>
      </p:sp>
      <p:sp>
        <p:nvSpPr>
          <p:cNvPr id="5" name="Footer Placeholder 4"/>
          <p:cNvSpPr>
            <a:spLocks noGrp="1"/>
          </p:cNvSpPr>
          <p:nvPr>
            <p:ph type="ftr" sz="quarter" idx="3"/>
          </p:nvPr>
        </p:nvSpPr>
        <p:spPr>
          <a:xfrm>
            <a:off x="533400" y="5936189"/>
            <a:ext cx="4834673"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48600" y="753228"/>
            <a:ext cx="1157674"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66524930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Struggle for Democracy</a:t>
            </a:r>
            <a:br>
              <a:rPr lang="en-US" dirty="0" smtClean="0"/>
            </a:br>
            <a:r>
              <a:rPr lang="en-US" dirty="0" smtClean="0"/>
              <a:t>PPP </a:t>
            </a:r>
            <a:r>
              <a:rPr dirty="0" smtClean="0"/>
              <a:t>Era </a:t>
            </a:r>
            <a:r>
              <a:rPr dirty="0"/>
              <a:t>(2008–2013</a:t>
            </a:r>
            <a:r>
              <a:rPr dirty="0" smtClean="0"/>
              <a:t>)</a:t>
            </a:r>
            <a:endParaRPr dirty="0"/>
          </a:p>
        </p:txBody>
      </p:sp>
      <p:sp>
        <p:nvSpPr>
          <p:cNvPr id="5" name="Rectangle 4"/>
          <p:cNvSpPr/>
          <p:nvPr/>
        </p:nvSpPr>
        <p:spPr>
          <a:xfrm>
            <a:off x="127156" y="4445554"/>
            <a:ext cx="4687732" cy="2246769"/>
          </a:xfrm>
          <a:prstGeom prst="rect">
            <a:avLst/>
          </a:prstGeom>
        </p:spPr>
        <p:txBody>
          <a:bodyPr wrap="square">
            <a:spAutoFit/>
          </a:bodyPr>
          <a:lstStyle/>
          <a:p>
            <a:r>
              <a:rPr lang="en-US" sz="2000" b="1" dirty="0" smtClean="0"/>
              <a:t>This lecture includes</a:t>
            </a:r>
          </a:p>
          <a:p>
            <a:r>
              <a:rPr lang="en-US" sz="2000" dirty="0" smtClean="0"/>
              <a:t>PPP in Parliament</a:t>
            </a:r>
          </a:p>
          <a:p>
            <a:r>
              <a:rPr lang="en-US" sz="2000" dirty="0" smtClean="0"/>
              <a:t>Restoration of Supreme Court Judges</a:t>
            </a:r>
          </a:p>
          <a:p>
            <a:r>
              <a:rPr lang="en-US" sz="2000" dirty="0" smtClean="0"/>
              <a:t>Judicial Activism during PPP Government </a:t>
            </a:r>
          </a:p>
          <a:p>
            <a:r>
              <a:rPr lang="en-US" sz="2000" dirty="0" smtClean="0"/>
              <a:t>18th </a:t>
            </a:r>
            <a:r>
              <a:rPr lang="en-US" sz="2000" dirty="0"/>
              <a:t>Amendment &amp; Initiation of </a:t>
            </a:r>
            <a:r>
              <a:rPr lang="en-US" sz="2000" dirty="0" smtClean="0"/>
              <a:t>CPEC</a:t>
            </a:r>
          </a:p>
          <a:p>
            <a:r>
              <a:rPr lang="en-GB" sz="2000" dirty="0" smtClean="0"/>
              <a:t>Removal of Yusuf Raza Gilani</a:t>
            </a:r>
            <a:endParaRPr lang="en-GB" sz="2000" dirty="0"/>
          </a:p>
        </p:txBody>
      </p:sp>
      <p:sp>
        <p:nvSpPr>
          <p:cNvPr id="6" name="Rectangle 5"/>
          <p:cNvSpPr/>
          <p:nvPr/>
        </p:nvSpPr>
        <p:spPr>
          <a:xfrm>
            <a:off x="4926324" y="4274105"/>
            <a:ext cx="4217676" cy="2554545"/>
          </a:xfrm>
          <a:prstGeom prst="rect">
            <a:avLst/>
          </a:prstGeom>
        </p:spPr>
        <p:txBody>
          <a:bodyPr wrap="square">
            <a:spAutoFit/>
          </a:bodyPr>
          <a:lstStyle/>
          <a:p>
            <a:r>
              <a:rPr lang="en-US" sz="1600" b="1" dirty="0" smtClean="0"/>
              <a:t>CLO 02 &amp; 03</a:t>
            </a:r>
          </a:p>
          <a:p>
            <a:r>
              <a:rPr lang="en-US" sz="1600" dirty="0"/>
              <a:t>A</a:t>
            </a:r>
            <a:r>
              <a:rPr lang="en-US" sz="1600" dirty="0" smtClean="0"/>
              <a:t>nalyze </a:t>
            </a:r>
            <a:r>
              <a:rPr lang="en-US" sz="1600" dirty="0"/>
              <a:t>Pakistan’s political and constitutional evolution from 1958 to the present, including civil-military relations, democratic transitions, and governance challenges. Also, able to critically evaluate governance reforms, constitutional amendments, economic initiatives (e.g., CPEC), and their impact on political stability and national development</a:t>
            </a:r>
            <a:endParaRPr lang="en-GB"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Political Context (2008)</a:t>
            </a:r>
          </a:p>
        </p:txBody>
      </p:sp>
      <p:sp>
        <p:nvSpPr>
          <p:cNvPr id="3" name="Content Placeholder 2"/>
          <p:cNvSpPr>
            <a:spLocks noGrp="1"/>
          </p:cNvSpPr>
          <p:nvPr>
            <p:ph idx="1"/>
          </p:nvPr>
        </p:nvSpPr>
        <p:spPr>
          <a:xfrm>
            <a:off x="45864" y="2302021"/>
            <a:ext cx="4154661" cy="3599316"/>
          </a:xfrm>
        </p:spPr>
        <p:txBody>
          <a:bodyPr/>
          <a:lstStyle/>
          <a:p>
            <a:r>
              <a:rPr dirty="0" smtClean="0"/>
              <a:t>End </a:t>
            </a:r>
            <a:r>
              <a:rPr dirty="0"/>
              <a:t>of Musharraf Era</a:t>
            </a:r>
          </a:p>
          <a:p>
            <a:r>
              <a:rPr dirty="0" smtClean="0"/>
              <a:t>2008 </a:t>
            </a:r>
            <a:r>
              <a:rPr dirty="0"/>
              <a:t>Elections – PPP Government</a:t>
            </a:r>
          </a:p>
          <a:p>
            <a:r>
              <a:rPr dirty="0" smtClean="0"/>
              <a:t>War </a:t>
            </a:r>
            <a:r>
              <a:rPr dirty="0"/>
              <a:t>on Terror &amp; Economic Crisis</a:t>
            </a:r>
          </a:p>
          <a:p>
            <a:r>
              <a:rPr dirty="0" smtClean="0"/>
              <a:t>First </a:t>
            </a:r>
            <a:r>
              <a:rPr dirty="0"/>
              <a:t>Civilian Government Completing Tenure</a:t>
            </a:r>
          </a:p>
        </p:txBody>
      </p:sp>
      <p:sp>
        <p:nvSpPr>
          <p:cNvPr id="4" name="Rectangle 3"/>
          <p:cNvSpPr/>
          <p:nvPr/>
        </p:nvSpPr>
        <p:spPr>
          <a:xfrm>
            <a:off x="4200525" y="2056686"/>
            <a:ext cx="4572000" cy="4801314"/>
          </a:xfrm>
          <a:prstGeom prst="rect">
            <a:avLst/>
          </a:prstGeom>
        </p:spPr>
        <p:txBody>
          <a:bodyPr>
            <a:spAutoFit/>
          </a:bodyPr>
          <a:lstStyle/>
          <a:p>
            <a:r>
              <a:rPr lang="en-US" dirty="0"/>
              <a:t>The Elections 2008 were held in the turbulent security environment and under the pseudo-democratic regime of General Musharraf which mainly aimed to backlash the democratization process in Pakistan. Pakistan People’s Party Parliamentarian (PPPP), the electoral wing of the PPP won the majority seats (95 out of 248 in the National Assembly) and formed the government in collaboration with the </a:t>
            </a:r>
            <a:r>
              <a:rPr lang="en-US" dirty="0" err="1"/>
              <a:t>Mutahidda</a:t>
            </a:r>
            <a:r>
              <a:rPr lang="en-US" dirty="0"/>
              <a:t> </a:t>
            </a:r>
            <a:r>
              <a:rPr lang="en-US" dirty="0" err="1"/>
              <a:t>Qaumi</a:t>
            </a:r>
            <a:r>
              <a:rPr lang="en-US" dirty="0"/>
              <a:t> Movement (MQM), </a:t>
            </a:r>
            <a:r>
              <a:rPr lang="en-US" dirty="0" err="1"/>
              <a:t>Awami</a:t>
            </a:r>
            <a:r>
              <a:rPr lang="en-US" dirty="0"/>
              <a:t> National Party (ANP), </a:t>
            </a:r>
            <a:r>
              <a:rPr lang="en-US" dirty="0" err="1"/>
              <a:t>Jamaiat</a:t>
            </a:r>
            <a:r>
              <a:rPr lang="en-US" dirty="0"/>
              <a:t> </a:t>
            </a:r>
            <a:r>
              <a:rPr lang="en-US" dirty="0" err="1"/>
              <a:t>Ulama</a:t>
            </a:r>
            <a:r>
              <a:rPr lang="en-US" dirty="0"/>
              <a:t>-e-Islam (JUI) and PML (N). Later, the PML (N) left the coalition and sat on the opposition benches The PPP regime completed its constitutional tenure of five years in 2013 but could not be re- elected.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18th Amendment Background</a:t>
            </a:r>
          </a:p>
        </p:txBody>
      </p:sp>
      <p:sp>
        <p:nvSpPr>
          <p:cNvPr id="3" name="Content Placeholder 2"/>
          <p:cNvSpPr>
            <a:spLocks noGrp="1"/>
          </p:cNvSpPr>
          <p:nvPr>
            <p:ph idx="1"/>
          </p:nvPr>
        </p:nvSpPr>
        <p:spPr>
          <a:xfrm>
            <a:off x="5248275" y="2565472"/>
            <a:ext cx="3667125" cy="2878065"/>
          </a:xfrm>
        </p:spPr>
        <p:txBody>
          <a:bodyPr/>
          <a:lstStyle/>
          <a:p>
            <a:r>
              <a:rPr dirty="0" smtClean="0"/>
              <a:t>Charter </a:t>
            </a:r>
            <a:r>
              <a:rPr dirty="0"/>
              <a:t>of Democracy (2006)</a:t>
            </a:r>
          </a:p>
          <a:p>
            <a:r>
              <a:rPr dirty="0" smtClean="0"/>
              <a:t>Restoration </a:t>
            </a:r>
            <a:r>
              <a:rPr dirty="0"/>
              <a:t>of Parliamentary Supremacy</a:t>
            </a:r>
          </a:p>
          <a:p>
            <a:r>
              <a:rPr dirty="0" smtClean="0"/>
              <a:t>Removal </a:t>
            </a:r>
            <a:r>
              <a:rPr dirty="0"/>
              <a:t>of Presidential Powers</a:t>
            </a:r>
          </a:p>
        </p:txBody>
      </p:sp>
      <p:sp>
        <p:nvSpPr>
          <p:cNvPr id="4" name="Rectangle 3"/>
          <p:cNvSpPr/>
          <p:nvPr/>
        </p:nvSpPr>
        <p:spPr>
          <a:xfrm>
            <a:off x="157162" y="2481010"/>
            <a:ext cx="4572000" cy="3046988"/>
          </a:xfrm>
          <a:prstGeom prst="rect">
            <a:avLst/>
          </a:prstGeom>
        </p:spPr>
        <p:txBody>
          <a:bodyPr>
            <a:spAutoFit/>
          </a:bodyPr>
          <a:lstStyle/>
          <a:p>
            <a:r>
              <a:rPr lang="en-US" sz="2400" dirty="0"/>
              <a:t>After the elections, the arch rivals in the history and opponents at NRO e.g. the PPP and PML (N) joined to form the coalition government which then was interpreted as a positive sign for the sustenance of democracy in Pakistan.</a:t>
            </a:r>
            <a:endParaRPr lang="en-GB"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Features of 18th Amendment</a:t>
            </a:r>
          </a:p>
        </p:txBody>
      </p:sp>
      <p:sp>
        <p:nvSpPr>
          <p:cNvPr id="3" name="Content Placeholder 2"/>
          <p:cNvSpPr>
            <a:spLocks noGrp="1"/>
          </p:cNvSpPr>
          <p:nvPr>
            <p:ph idx="1"/>
          </p:nvPr>
        </p:nvSpPr>
        <p:spPr>
          <a:xfrm>
            <a:off x="131589" y="2336873"/>
            <a:ext cx="3581400" cy="3292402"/>
          </a:xfrm>
        </p:spPr>
        <p:txBody>
          <a:bodyPr/>
          <a:lstStyle/>
          <a:p>
            <a:r>
              <a:rPr dirty="0" smtClean="0"/>
              <a:t>Removal </a:t>
            </a:r>
            <a:r>
              <a:rPr dirty="0"/>
              <a:t>of Article 58(2)(b)</a:t>
            </a:r>
          </a:p>
          <a:p>
            <a:r>
              <a:rPr lang="en-US" dirty="0" smtClean="0"/>
              <a:t>S</a:t>
            </a:r>
            <a:r>
              <a:rPr dirty="0" smtClean="0"/>
              <a:t>trengthened </a:t>
            </a:r>
            <a:r>
              <a:rPr dirty="0"/>
              <a:t>Prime Minister</a:t>
            </a:r>
          </a:p>
          <a:p>
            <a:r>
              <a:rPr dirty="0" smtClean="0"/>
              <a:t>Provincial </a:t>
            </a:r>
            <a:r>
              <a:rPr dirty="0"/>
              <a:t>Autonomy</a:t>
            </a:r>
          </a:p>
          <a:p>
            <a:r>
              <a:rPr dirty="0" smtClean="0"/>
              <a:t>Judicial </a:t>
            </a:r>
            <a:r>
              <a:rPr dirty="0"/>
              <a:t>Commission for Appointments</a:t>
            </a:r>
          </a:p>
        </p:txBody>
      </p:sp>
      <p:sp>
        <p:nvSpPr>
          <p:cNvPr id="4" name="Rectangle 3"/>
          <p:cNvSpPr/>
          <p:nvPr/>
        </p:nvSpPr>
        <p:spPr>
          <a:xfrm>
            <a:off x="3971926" y="2714625"/>
            <a:ext cx="5172074" cy="1938992"/>
          </a:xfrm>
          <a:prstGeom prst="rect">
            <a:avLst/>
          </a:prstGeom>
        </p:spPr>
        <p:txBody>
          <a:bodyPr wrap="square">
            <a:spAutoFit/>
          </a:bodyPr>
          <a:lstStyle/>
          <a:p>
            <a:r>
              <a:rPr lang="en-US" sz="2400" dirty="0"/>
              <a:t>Despite of its failure to practice the good governance, the PPP regime steered a number of structural changes in the overall politico-constitutional structure of state.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Provincial Autonomy</a:t>
            </a:r>
          </a:p>
        </p:txBody>
      </p:sp>
      <p:sp>
        <p:nvSpPr>
          <p:cNvPr id="3" name="Content Placeholder 2"/>
          <p:cNvSpPr>
            <a:spLocks noGrp="1"/>
          </p:cNvSpPr>
          <p:nvPr>
            <p:ph idx="1"/>
          </p:nvPr>
        </p:nvSpPr>
        <p:spPr>
          <a:xfrm>
            <a:off x="5033963" y="2914651"/>
            <a:ext cx="3952875" cy="2085975"/>
          </a:xfrm>
        </p:spPr>
        <p:txBody>
          <a:bodyPr>
            <a:normAutofit/>
          </a:bodyPr>
          <a:lstStyle/>
          <a:p>
            <a:r>
              <a:rPr dirty="0" smtClean="0"/>
              <a:t>Abolished </a:t>
            </a:r>
            <a:r>
              <a:rPr dirty="0"/>
              <a:t>Concurrent List</a:t>
            </a:r>
          </a:p>
          <a:p>
            <a:r>
              <a:rPr dirty="0" smtClean="0"/>
              <a:t>Education</a:t>
            </a:r>
            <a:r>
              <a:rPr dirty="0"/>
              <a:t>, Health, Culture to Provinces</a:t>
            </a:r>
          </a:p>
          <a:p>
            <a:r>
              <a:rPr dirty="0" smtClean="0"/>
              <a:t>Strengthened </a:t>
            </a:r>
            <a:r>
              <a:rPr dirty="0"/>
              <a:t>Federalism</a:t>
            </a:r>
          </a:p>
        </p:txBody>
      </p:sp>
      <p:sp>
        <p:nvSpPr>
          <p:cNvPr id="4" name="Rectangle 3"/>
          <p:cNvSpPr/>
          <p:nvPr/>
        </p:nvSpPr>
        <p:spPr>
          <a:xfrm>
            <a:off x="531639" y="2413338"/>
            <a:ext cx="4572000" cy="3785652"/>
          </a:xfrm>
          <a:prstGeom prst="rect">
            <a:avLst/>
          </a:prstGeom>
        </p:spPr>
        <p:txBody>
          <a:bodyPr>
            <a:spAutoFit/>
          </a:bodyPr>
          <a:lstStyle/>
          <a:p>
            <a:r>
              <a:rPr lang="en-US" sz="2400" dirty="0"/>
              <a:t>The major notable successes of the aforesaid </a:t>
            </a:r>
            <a:r>
              <a:rPr lang="en-US" sz="2400" dirty="0" err="1"/>
              <a:t>Zardari</a:t>
            </a:r>
            <a:r>
              <a:rPr lang="en-US" sz="2400" dirty="0"/>
              <a:t> regime included the restructuring the NFC award, securing provincial autonomy and re-activation of the Council of Common Interests</a:t>
            </a:r>
          </a:p>
          <a:p>
            <a:r>
              <a:rPr lang="en-US" sz="2400" dirty="0"/>
              <a:t>i.e. through successfully passing the 18th Constitutional Amendment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Significance &amp; Criticism</a:t>
            </a:r>
          </a:p>
        </p:txBody>
      </p:sp>
      <p:sp>
        <p:nvSpPr>
          <p:cNvPr id="3" name="Content Placeholder 2"/>
          <p:cNvSpPr>
            <a:spLocks noGrp="1"/>
          </p:cNvSpPr>
          <p:nvPr>
            <p:ph idx="1"/>
          </p:nvPr>
        </p:nvSpPr>
        <p:spPr>
          <a:xfrm>
            <a:off x="119063" y="2594048"/>
            <a:ext cx="3424237" cy="2549452"/>
          </a:xfrm>
        </p:spPr>
        <p:txBody>
          <a:bodyPr>
            <a:noAutofit/>
          </a:bodyPr>
          <a:lstStyle/>
          <a:p>
            <a:r>
              <a:rPr dirty="0" smtClean="0"/>
              <a:t>Democratic </a:t>
            </a:r>
            <a:r>
              <a:rPr dirty="0"/>
              <a:t>Restoration</a:t>
            </a:r>
          </a:p>
          <a:p>
            <a:r>
              <a:rPr dirty="0" smtClean="0"/>
              <a:t>Stronger </a:t>
            </a:r>
            <a:r>
              <a:rPr dirty="0"/>
              <a:t>Parliament</a:t>
            </a:r>
          </a:p>
          <a:p>
            <a:r>
              <a:rPr dirty="0" smtClean="0"/>
              <a:t>Implementation </a:t>
            </a:r>
            <a:r>
              <a:rPr dirty="0"/>
              <a:t>Challenges</a:t>
            </a:r>
          </a:p>
          <a:p>
            <a:r>
              <a:rPr dirty="0" smtClean="0"/>
              <a:t>Fiscal </a:t>
            </a:r>
            <a:r>
              <a:rPr dirty="0"/>
              <a:t>Concerns</a:t>
            </a:r>
          </a:p>
        </p:txBody>
      </p:sp>
      <p:sp>
        <p:nvSpPr>
          <p:cNvPr id="4" name="Rectangle 3"/>
          <p:cNvSpPr/>
          <p:nvPr/>
        </p:nvSpPr>
        <p:spPr>
          <a:xfrm>
            <a:off x="4108493" y="2260971"/>
            <a:ext cx="4572000" cy="4154984"/>
          </a:xfrm>
          <a:prstGeom prst="rect">
            <a:avLst/>
          </a:prstGeom>
        </p:spPr>
        <p:txBody>
          <a:bodyPr>
            <a:spAutoFit/>
          </a:bodyPr>
          <a:lstStyle/>
          <a:p>
            <a:r>
              <a:rPr lang="en-US" sz="2400" dirty="0"/>
              <a:t>The first challenge for the PPP regime was to face widespread and regular public protests for the restoration of judiciary. </a:t>
            </a:r>
            <a:endParaRPr lang="en-US" sz="2400" dirty="0" smtClean="0"/>
          </a:p>
          <a:p>
            <a:endParaRPr lang="en-US" sz="2400" dirty="0" smtClean="0"/>
          </a:p>
          <a:p>
            <a:r>
              <a:rPr lang="en-US" sz="2400" dirty="0"/>
              <a:t>The restoration of judiciary proved a bad omen for the PPP regime because it resulted the restoration of the paused judicial activism CJ </a:t>
            </a:r>
            <a:r>
              <a:rPr lang="en-US" sz="2400" dirty="0" err="1"/>
              <a:t>Iftikhar</a:t>
            </a:r>
            <a:r>
              <a:rPr lang="en-US" sz="2400" dirty="0"/>
              <a:t> Chaudhary. </a:t>
            </a:r>
            <a:endParaRPr lang="en-GB"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Removal of Yusuf Raza Gilani</a:t>
            </a:r>
            <a:endParaRPr dirty="0"/>
          </a:p>
        </p:txBody>
      </p:sp>
      <p:sp>
        <p:nvSpPr>
          <p:cNvPr id="4" name="Rectangle 3"/>
          <p:cNvSpPr/>
          <p:nvPr/>
        </p:nvSpPr>
        <p:spPr>
          <a:xfrm>
            <a:off x="728662" y="2247779"/>
            <a:ext cx="7058025" cy="3416320"/>
          </a:xfrm>
          <a:prstGeom prst="rect">
            <a:avLst/>
          </a:prstGeom>
        </p:spPr>
        <p:txBody>
          <a:bodyPr wrap="square">
            <a:spAutoFit/>
          </a:bodyPr>
          <a:lstStyle/>
          <a:p>
            <a:pPr marL="342900" indent="-342900">
              <a:buFont typeface="Arial" panose="020B0604020202020204" pitchFamily="34" charset="0"/>
              <a:buChar char="•"/>
            </a:pPr>
            <a:r>
              <a:rPr lang="en-US" sz="2400" dirty="0"/>
              <a:t>The legal battle ended in June 2012, when the SC removed the then Prime Minister </a:t>
            </a:r>
            <a:r>
              <a:rPr lang="en-US" sz="2400" dirty="0" err="1"/>
              <a:t>Yousaf</a:t>
            </a:r>
            <a:r>
              <a:rPr lang="en-US" sz="2400" dirty="0"/>
              <a:t> Raza Gilani from his office on the charges of contempt. </a:t>
            </a:r>
            <a:endParaRPr lang="en-US" sz="2400" dirty="0" smtClean="0"/>
          </a:p>
          <a:p>
            <a:pPr marL="342900" indent="-342900">
              <a:buFont typeface="Arial" panose="020B0604020202020204" pitchFamily="34" charset="0"/>
              <a:buChar char="•"/>
            </a:pPr>
            <a:r>
              <a:rPr lang="en-US" sz="2400" dirty="0" smtClean="0"/>
              <a:t>The </a:t>
            </a:r>
            <a:r>
              <a:rPr lang="en-US" sz="2400" dirty="0"/>
              <a:t>deadlock was finally ended in October 2012 when the government complied with the orders of SC to contact with the Swiss authorities and sought concession regarding the early demanded immunity for the office of president </a:t>
            </a:r>
            <a:endParaRPr lang="en-GB"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Raja </a:t>
            </a:r>
            <a:r>
              <a:rPr lang="en-US" dirty="0" err="1" smtClean="0"/>
              <a:t>Pervaiz</a:t>
            </a:r>
            <a:r>
              <a:rPr lang="en-US" dirty="0" smtClean="0"/>
              <a:t> Ashraf as PM</a:t>
            </a:r>
            <a:endParaRPr dirty="0"/>
          </a:p>
        </p:txBody>
      </p:sp>
      <p:sp>
        <p:nvSpPr>
          <p:cNvPr id="5" name="Rectangle 4"/>
          <p:cNvSpPr/>
          <p:nvPr/>
        </p:nvSpPr>
        <p:spPr>
          <a:xfrm>
            <a:off x="928688" y="2286179"/>
            <a:ext cx="5929312" cy="3785652"/>
          </a:xfrm>
          <a:prstGeom prst="rect">
            <a:avLst/>
          </a:prstGeom>
        </p:spPr>
        <p:txBody>
          <a:bodyPr wrap="square">
            <a:spAutoFit/>
          </a:bodyPr>
          <a:lstStyle/>
          <a:p>
            <a:pPr marL="342900" indent="-342900">
              <a:buFont typeface="Arial" panose="020B0604020202020204" pitchFamily="34" charset="0"/>
              <a:buChar char="•"/>
            </a:pPr>
            <a:r>
              <a:rPr lang="en-US" sz="2400" dirty="0">
                <a:ea typeface="Cambria" panose="02040503050406030204" pitchFamily="18" charset="0"/>
                <a:cs typeface="Cambria" panose="02040503050406030204" pitchFamily="18" charset="0"/>
              </a:rPr>
              <a:t>After the removal of </a:t>
            </a:r>
            <a:r>
              <a:rPr lang="en-US" sz="2400" dirty="0" err="1">
                <a:ea typeface="Cambria" panose="02040503050406030204" pitchFamily="18" charset="0"/>
                <a:cs typeface="Cambria" panose="02040503050406030204" pitchFamily="18" charset="0"/>
              </a:rPr>
              <a:t>Yousaf</a:t>
            </a:r>
            <a:r>
              <a:rPr lang="en-US" sz="2400" dirty="0">
                <a:ea typeface="Cambria" panose="02040503050406030204" pitchFamily="18" charset="0"/>
                <a:cs typeface="Cambria" panose="02040503050406030204" pitchFamily="18" charset="0"/>
              </a:rPr>
              <a:t> Raza Gilani, the PPP appointed Raja </a:t>
            </a:r>
            <a:r>
              <a:rPr lang="en-US" sz="2400" dirty="0" err="1">
                <a:ea typeface="Cambria" panose="02040503050406030204" pitchFamily="18" charset="0"/>
                <a:cs typeface="Cambria" panose="02040503050406030204" pitchFamily="18" charset="0"/>
              </a:rPr>
              <a:t>Pervaiz</a:t>
            </a:r>
            <a:r>
              <a:rPr lang="en-US" sz="2400" dirty="0">
                <a:ea typeface="Cambria" panose="02040503050406030204" pitchFamily="18" charset="0"/>
                <a:cs typeface="Cambria" panose="02040503050406030204" pitchFamily="18" charset="0"/>
              </a:rPr>
              <a:t> Ashraf as the next Prime Minister. </a:t>
            </a:r>
            <a:endParaRPr lang="en-US" sz="2400" dirty="0" smtClean="0">
              <a:ea typeface="Cambria" panose="02040503050406030204" pitchFamily="18" charset="0"/>
              <a:cs typeface="Cambria" panose="02040503050406030204" pitchFamily="18" charset="0"/>
            </a:endParaRPr>
          </a:p>
          <a:p>
            <a:pPr marL="342900" indent="-342900">
              <a:buFont typeface="Arial" panose="020B0604020202020204" pitchFamily="34" charset="0"/>
              <a:buChar char="•"/>
            </a:pPr>
            <a:r>
              <a:rPr lang="en-US" sz="2400" dirty="0" smtClean="0">
                <a:ea typeface="Cambria" panose="02040503050406030204" pitchFamily="18" charset="0"/>
                <a:cs typeface="Cambria" panose="02040503050406030204" pitchFamily="18" charset="0"/>
              </a:rPr>
              <a:t>The </a:t>
            </a:r>
            <a:r>
              <a:rPr lang="en-US" sz="2400" dirty="0">
                <a:ea typeface="Cambria" panose="02040503050406030204" pitchFamily="18" charset="0"/>
                <a:cs typeface="Cambria" panose="02040503050406030204" pitchFamily="18" charset="0"/>
              </a:rPr>
              <a:t>PPP faced another setback from judiciary in December, 2012, when the court issued an arrest warrant against its second prime minister Raja </a:t>
            </a:r>
            <a:r>
              <a:rPr lang="en-US" sz="2400" dirty="0" err="1">
                <a:ea typeface="Cambria" panose="02040503050406030204" pitchFamily="18" charset="0"/>
                <a:cs typeface="Cambria" panose="02040503050406030204" pitchFamily="18" charset="0"/>
              </a:rPr>
              <a:t>Pervaiz</a:t>
            </a:r>
            <a:r>
              <a:rPr lang="en-US" sz="2400" dirty="0">
                <a:ea typeface="Cambria" panose="02040503050406030204" pitchFamily="18" charset="0"/>
                <a:cs typeface="Cambria" panose="02040503050406030204" pitchFamily="18" charset="0"/>
              </a:rPr>
              <a:t> Ashraf</a:t>
            </a:r>
            <a:r>
              <a:rPr lang="en-US" sz="2400" spc="-2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on</a:t>
            </a:r>
            <a:r>
              <a:rPr lang="en-US" sz="2400" spc="-2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the</a:t>
            </a:r>
            <a:r>
              <a:rPr lang="en-US" sz="2400" spc="-2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charges</a:t>
            </a:r>
            <a:r>
              <a:rPr lang="en-US" sz="2400" spc="-1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of</a:t>
            </a:r>
            <a:r>
              <a:rPr lang="en-US" sz="2400" spc="-2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corruptions</a:t>
            </a:r>
            <a:r>
              <a:rPr lang="en-US" sz="2400" spc="-2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during</a:t>
            </a:r>
            <a:r>
              <a:rPr lang="en-US" sz="2400" spc="-2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his</a:t>
            </a:r>
            <a:r>
              <a:rPr lang="en-US" sz="2400" spc="-1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early</a:t>
            </a:r>
            <a:r>
              <a:rPr lang="en-US" sz="2400" spc="-2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held</a:t>
            </a:r>
            <a:r>
              <a:rPr lang="en-US" sz="2400" spc="-2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portfolio</a:t>
            </a:r>
            <a:r>
              <a:rPr lang="en-US" sz="2400" spc="-2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of</a:t>
            </a:r>
            <a:r>
              <a:rPr lang="en-US" sz="2400" spc="-2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the</a:t>
            </a:r>
            <a:r>
              <a:rPr lang="en-US" sz="2400" spc="-2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ministry</a:t>
            </a:r>
            <a:r>
              <a:rPr lang="en-US" sz="2400" spc="-3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of</a:t>
            </a:r>
            <a:r>
              <a:rPr lang="en-US" sz="2400" spc="-2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water and power. </a:t>
            </a:r>
            <a:endParaRPr lang="en-GB"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Economic Issues faced</a:t>
            </a:r>
            <a:endParaRPr dirty="0"/>
          </a:p>
        </p:txBody>
      </p:sp>
      <p:sp>
        <p:nvSpPr>
          <p:cNvPr id="4" name="Rectangle 3"/>
          <p:cNvSpPr/>
          <p:nvPr/>
        </p:nvSpPr>
        <p:spPr>
          <a:xfrm>
            <a:off x="742950" y="2413338"/>
            <a:ext cx="6115050" cy="3046988"/>
          </a:xfrm>
          <a:prstGeom prst="rect">
            <a:avLst/>
          </a:prstGeom>
        </p:spPr>
        <p:txBody>
          <a:bodyPr wrap="square">
            <a:spAutoFit/>
          </a:bodyPr>
          <a:lstStyle/>
          <a:p>
            <a:r>
              <a:rPr lang="en-US" sz="2400" dirty="0">
                <a:ea typeface="Cambria" panose="02040503050406030204" pitchFamily="18" charset="0"/>
                <a:cs typeface="Cambria" panose="02040503050406030204" pitchFamily="18" charset="0"/>
              </a:rPr>
              <a:t>In</a:t>
            </a:r>
            <a:r>
              <a:rPr lang="en-US" sz="2400" spc="-5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2008,</a:t>
            </a:r>
            <a:r>
              <a:rPr lang="en-US" sz="2400" spc="-4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the</a:t>
            </a:r>
            <a:r>
              <a:rPr lang="en-US" sz="2400" spc="-4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PPP</a:t>
            </a:r>
            <a:r>
              <a:rPr lang="en-US" sz="2400" spc="-5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regime</a:t>
            </a:r>
            <a:r>
              <a:rPr lang="en-US" sz="2400" spc="-4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inherited</a:t>
            </a:r>
            <a:r>
              <a:rPr lang="en-US" sz="2400" spc="-4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a</a:t>
            </a:r>
            <a:r>
              <a:rPr lang="en-US" sz="2400" spc="-4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war</a:t>
            </a:r>
            <a:r>
              <a:rPr lang="en-US" sz="2400" spc="-4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torn</a:t>
            </a:r>
            <a:r>
              <a:rPr lang="en-US" sz="2400" spc="-5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economy</a:t>
            </a:r>
            <a:r>
              <a:rPr lang="en-US" sz="2400" spc="-5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which</a:t>
            </a:r>
            <a:r>
              <a:rPr lang="en-US" sz="2400" spc="-4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was</a:t>
            </a:r>
            <a:r>
              <a:rPr lang="en-US" sz="2400" spc="-5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mostly</a:t>
            </a:r>
            <a:r>
              <a:rPr lang="en-US" sz="2400" spc="-5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dependent on foreign aid and the financial assistance of the IMF. Further, the PPP regime had been plagued by the corruption charges throughout its tenure and thus had less focus upon the economic</a:t>
            </a:r>
            <a:r>
              <a:rPr lang="en-US" sz="2400" spc="18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issues</a:t>
            </a:r>
            <a:r>
              <a:rPr lang="en-US" sz="2400" spc="19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of</a:t>
            </a:r>
            <a:r>
              <a:rPr lang="en-US" sz="2400" spc="195"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the</a:t>
            </a:r>
            <a:r>
              <a:rPr lang="en-US" sz="2400" spc="180" dirty="0">
                <a:ea typeface="Cambria" panose="02040503050406030204" pitchFamily="18" charset="0"/>
                <a:cs typeface="Cambria" panose="02040503050406030204" pitchFamily="18" charset="0"/>
              </a:rPr>
              <a:t> </a:t>
            </a:r>
            <a:r>
              <a:rPr lang="en-US" sz="2400" dirty="0">
                <a:ea typeface="Cambria" panose="02040503050406030204" pitchFamily="18" charset="0"/>
                <a:cs typeface="Cambria" panose="02040503050406030204" pitchFamily="18" charset="0"/>
              </a:rPr>
              <a:t>state</a:t>
            </a:r>
            <a:r>
              <a:rPr lang="en-US" sz="2400" spc="190" dirty="0">
                <a:ea typeface="Cambria" panose="02040503050406030204" pitchFamily="18" charset="0"/>
                <a:cs typeface="Cambria" panose="02040503050406030204" pitchFamily="18" charset="0"/>
              </a:rPr>
              <a:t> </a:t>
            </a:r>
            <a:endParaRPr lang="en-GB"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End of PPP era-2013</a:t>
            </a:r>
            <a:endParaRPr lang="en-GB" dirty="0"/>
          </a:p>
        </p:txBody>
      </p:sp>
      <p:sp>
        <p:nvSpPr>
          <p:cNvPr id="4" name="Rectangle 3"/>
          <p:cNvSpPr/>
          <p:nvPr/>
        </p:nvSpPr>
        <p:spPr>
          <a:xfrm>
            <a:off x="128587" y="2019904"/>
            <a:ext cx="8872538" cy="4708981"/>
          </a:xfrm>
          <a:prstGeom prst="rect">
            <a:avLst/>
          </a:prstGeom>
        </p:spPr>
        <p:txBody>
          <a:bodyPr wrap="square">
            <a:spAutoFit/>
          </a:bodyPr>
          <a:lstStyle/>
          <a:p>
            <a:r>
              <a:rPr lang="en-US" sz="2000" dirty="0"/>
              <a:t>The leadership of PPP regime, especially ex-president Asif </a:t>
            </a:r>
            <a:r>
              <a:rPr lang="en-US" sz="2000" dirty="0" err="1"/>
              <a:t>Zardari</a:t>
            </a:r>
            <a:r>
              <a:rPr lang="en-US" sz="2000" dirty="0"/>
              <a:t> has been one of the key targets for media. President </a:t>
            </a:r>
            <a:r>
              <a:rPr lang="en-US" sz="2000" dirty="0" err="1"/>
              <a:t>Zardari</a:t>
            </a:r>
            <a:r>
              <a:rPr lang="en-US" sz="2000" dirty="0"/>
              <a:t>, prime ministers </a:t>
            </a:r>
            <a:r>
              <a:rPr lang="en-US" sz="2000" dirty="0" err="1"/>
              <a:t>Yousaf</a:t>
            </a:r>
            <a:r>
              <a:rPr lang="en-US" sz="2000" dirty="0"/>
              <a:t> Raza Gilani and Raja </a:t>
            </a:r>
            <a:r>
              <a:rPr lang="en-US" sz="2000" dirty="0" err="1"/>
              <a:t>Pervaiz</a:t>
            </a:r>
            <a:r>
              <a:rPr lang="en-US" sz="2000" dirty="0"/>
              <a:t> Ashraf and other leadership of the PPP regime faced corruption charges and were in a constant tussle with judiciary. </a:t>
            </a:r>
            <a:endParaRPr lang="en-US" sz="2000" dirty="0" smtClean="0"/>
          </a:p>
          <a:p>
            <a:endParaRPr lang="en-US" sz="2000" dirty="0"/>
          </a:p>
          <a:p>
            <a:r>
              <a:rPr lang="en-US" sz="2000" dirty="0" smtClean="0"/>
              <a:t>Crippling </a:t>
            </a:r>
            <a:r>
              <a:rPr lang="en-US" sz="2000" dirty="0"/>
              <a:t>power and gas shortages, unbridled price hike, burden of foreign loans, economic collapse, the weakened state institutions like PIA, Pakistan Railways, Pakistan Steel, WAPDA and false claims that the country is making progress were some of the ‘gifts’ of the PPP regime which the public could not neglect in the next elections to be held in 2013. </a:t>
            </a:r>
            <a:endParaRPr lang="en-US" sz="2000" dirty="0" smtClean="0"/>
          </a:p>
          <a:p>
            <a:r>
              <a:rPr lang="en-US" sz="2000" dirty="0" smtClean="0"/>
              <a:t>PPP </a:t>
            </a:r>
            <a:r>
              <a:rPr lang="en-US" sz="2000" dirty="0"/>
              <a:t>regime had the chance to focus on the popular issues of literacy, public health, economic stability, and terrorism, but she failed to use her opportunity during its constitutional tenure e.g. (2008-13) effectively. So, there were hardly any “achievements” which the PPP regime could have </a:t>
            </a:r>
            <a:r>
              <a:rPr lang="en-US" sz="2000" dirty="0" err="1"/>
              <a:t>en</a:t>
            </a:r>
            <a:r>
              <a:rPr lang="en-US" sz="2000" dirty="0"/>
              <a:t>-cashed to win the next elections to be held in 2013.</a:t>
            </a:r>
          </a:p>
        </p:txBody>
      </p:sp>
    </p:spTree>
    <p:extLst>
      <p:ext uri="{BB962C8B-B14F-4D97-AF65-F5344CB8AC3E}">
        <p14:creationId xmlns:p14="http://schemas.microsoft.com/office/powerpoint/2010/main" val="1636788045"/>
      </p:ext>
    </p:extLst>
  </p:cSld>
  <p:clrMapOvr>
    <a:masterClrMapping/>
  </p:clrMapOvr>
</p:sld>
</file>

<file path=ppt/theme/theme1.xml><?xml version="1.0" encoding="utf-8"?>
<a:theme xmlns:a="http://schemas.openxmlformats.org/drawingml/2006/main" name="Berlin">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Berlin</Template>
  <TotalTime>49</TotalTime>
  <Words>836</Words>
  <Application>Microsoft Office PowerPoint</Application>
  <PresentationFormat>On-screen Show (4:3)</PresentationFormat>
  <Paragraphs>53</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Cambria</vt:lpstr>
      <vt:lpstr>Berlin</vt:lpstr>
      <vt:lpstr>Struggle for Democracy PPP Era (2008–2013)</vt:lpstr>
      <vt:lpstr>Political Context (2008)</vt:lpstr>
      <vt:lpstr>18th Amendment Background</vt:lpstr>
      <vt:lpstr>Key Features of 18th Amendment</vt:lpstr>
      <vt:lpstr>Provincial Autonomy</vt:lpstr>
      <vt:lpstr>Significance &amp; Criticism</vt:lpstr>
      <vt:lpstr>Removal of Yusuf Raza Gilani</vt:lpstr>
      <vt:lpstr>Raja Pervaiz Ashraf as PM</vt:lpstr>
      <vt:lpstr>Economic Issues faced</vt:lpstr>
      <vt:lpstr>End of PPP era-2013</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Struggle for Democracy PPP Era (2008–2013)</dc:title>
  <dc:subject/>
  <dc:creator/>
  <cp:keywords/>
  <dc:description>generated using python-pptx</dc:description>
  <cp:lastModifiedBy>Microsoft account</cp:lastModifiedBy>
  <cp:revision>13</cp:revision>
  <dcterms:created xsi:type="dcterms:W3CDTF">2013-01-27T09:14:16Z</dcterms:created>
  <dcterms:modified xsi:type="dcterms:W3CDTF">2026-02-15T19:51:33Z</dcterms:modified>
  <cp:category/>
</cp:coreProperties>
</file>